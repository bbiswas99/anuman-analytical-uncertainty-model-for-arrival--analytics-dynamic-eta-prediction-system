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302" r:id="rId3"/>
    <p:sldId id="301" r:id="rId4"/>
    <p:sldId id="256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751"/>
    <a:srgbClr val="F38931"/>
    <a:srgbClr val="E66F0D"/>
    <a:srgbClr val="72BF9B"/>
    <a:srgbClr val="42A272"/>
    <a:srgbClr val="6BDAB4"/>
    <a:srgbClr val="6BD9B5"/>
    <a:srgbClr val="FDD7AB"/>
    <a:srgbClr val="D67E02"/>
    <a:srgbClr val="7463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5706" autoAdjust="0"/>
  </p:normalViewPr>
  <p:slideViewPr>
    <p:cSldViewPr snapToGrid="0" snapToObjects="1">
      <p:cViewPr varScale="1">
        <p:scale>
          <a:sx n="91" d="100"/>
          <a:sy n="91" d="100"/>
        </p:scale>
        <p:origin x="394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2743E-5664-9560-623E-B17A3D83B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61081C71-B8C7-56CF-D8E4-CE475334B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77C2559E-1437-4E89-8D33-C15CEB5FD3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9FCF0C01-4154-EE5A-FBE9-2C2086A054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90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7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hyperlink" Target="https://darkgray-raven-872718.hostingersite.com/" TargetMode="External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3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7.png"/><Relationship Id="rId12" Type="http://schemas.openxmlformats.org/officeDocument/2006/relationships/image" Target="../media/image2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jpe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ebp"/><Relationship Id="rId11" Type="http://schemas.openxmlformats.org/officeDocument/2006/relationships/image" Target="../media/image11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5.png"/><Relationship Id="rId15" Type="http://schemas.openxmlformats.org/officeDocument/2006/relationships/image" Target="../media/image13.jpe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10.jpe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6.png"/><Relationship Id="rId21" Type="http://schemas.openxmlformats.org/officeDocument/2006/relationships/image" Target="../media/image51.png"/><Relationship Id="rId42" Type="http://schemas.openxmlformats.org/officeDocument/2006/relationships/image" Target="../media/image72.jpeg"/><Relationship Id="rId47" Type="http://schemas.openxmlformats.org/officeDocument/2006/relationships/image" Target="../media/image77.png"/><Relationship Id="rId63" Type="http://schemas.openxmlformats.org/officeDocument/2006/relationships/image" Target="../media/image93.png"/><Relationship Id="rId68" Type="http://schemas.openxmlformats.org/officeDocument/2006/relationships/image" Target="../media/image98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6.png"/><Relationship Id="rId29" Type="http://schemas.openxmlformats.org/officeDocument/2006/relationships/image" Target="../media/image59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32" Type="http://schemas.openxmlformats.org/officeDocument/2006/relationships/image" Target="../media/image62.png"/><Relationship Id="rId37" Type="http://schemas.openxmlformats.org/officeDocument/2006/relationships/image" Target="../media/image67.png"/><Relationship Id="rId40" Type="http://schemas.openxmlformats.org/officeDocument/2006/relationships/image" Target="../media/image70.png"/><Relationship Id="rId45" Type="http://schemas.openxmlformats.org/officeDocument/2006/relationships/image" Target="../media/image75.png"/><Relationship Id="rId53" Type="http://schemas.openxmlformats.org/officeDocument/2006/relationships/image" Target="../media/image83.png"/><Relationship Id="rId58" Type="http://schemas.openxmlformats.org/officeDocument/2006/relationships/image" Target="../media/image88.png"/><Relationship Id="rId66" Type="http://schemas.openxmlformats.org/officeDocument/2006/relationships/image" Target="../media/image96.png"/><Relationship Id="rId5" Type="http://schemas.openxmlformats.org/officeDocument/2006/relationships/image" Target="../media/image35.jpeg"/><Relationship Id="rId61" Type="http://schemas.openxmlformats.org/officeDocument/2006/relationships/image" Target="../media/image91.png"/><Relationship Id="rId19" Type="http://schemas.openxmlformats.org/officeDocument/2006/relationships/image" Target="../media/image4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57.png"/><Relationship Id="rId30" Type="http://schemas.openxmlformats.org/officeDocument/2006/relationships/image" Target="../media/image60.png"/><Relationship Id="rId35" Type="http://schemas.openxmlformats.org/officeDocument/2006/relationships/image" Target="../media/image65.png"/><Relationship Id="rId43" Type="http://schemas.openxmlformats.org/officeDocument/2006/relationships/image" Target="../media/image73.png"/><Relationship Id="rId48" Type="http://schemas.openxmlformats.org/officeDocument/2006/relationships/image" Target="../media/image78.png"/><Relationship Id="rId56" Type="http://schemas.openxmlformats.org/officeDocument/2006/relationships/image" Target="../media/image86.png"/><Relationship Id="rId64" Type="http://schemas.openxmlformats.org/officeDocument/2006/relationships/image" Target="../media/image94.png"/><Relationship Id="rId69" Type="http://schemas.openxmlformats.org/officeDocument/2006/relationships/image" Target="../media/image99.png"/><Relationship Id="rId8" Type="http://schemas.openxmlformats.org/officeDocument/2006/relationships/image" Target="../media/image38.png"/><Relationship Id="rId51" Type="http://schemas.openxmlformats.org/officeDocument/2006/relationships/image" Target="../media/image81.png"/><Relationship Id="rId3" Type="http://schemas.openxmlformats.org/officeDocument/2006/relationships/image" Target="../media/image2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33" Type="http://schemas.openxmlformats.org/officeDocument/2006/relationships/image" Target="../media/image63.png"/><Relationship Id="rId38" Type="http://schemas.openxmlformats.org/officeDocument/2006/relationships/image" Target="../media/image68.png"/><Relationship Id="rId46" Type="http://schemas.openxmlformats.org/officeDocument/2006/relationships/image" Target="../media/image76.jpeg"/><Relationship Id="rId59" Type="http://schemas.openxmlformats.org/officeDocument/2006/relationships/image" Target="../media/image89.png"/><Relationship Id="rId67" Type="http://schemas.openxmlformats.org/officeDocument/2006/relationships/image" Target="../media/image97.png"/><Relationship Id="rId20" Type="http://schemas.openxmlformats.org/officeDocument/2006/relationships/image" Target="../media/image50.png"/><Relationship Id="rId41" Type="http://schemas.openxmlformats.org/officeDocument/2006/relationships/image" Target="../media/image71.png"/><Relationship Id="rId54" Type="http://schemas.openxmlformats.org/officeDocument/2006/relationships/image" Target="../media/image84.png"/><Relationship Id="rId62" Type="http://schemas.openxmlformats.org/officeDocument/2006/relationships/image" Target="../media/image92.png"/><Relationship Id="rId70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58.png"/><Relationship Id="rId36" Type="http://schemas.openxmlformats.org/officeDocument/2006/relationships/image" Target="../media/image66.jpeg"/><Relationship Id="rId49" Type="http://schemas.openxmlformats.org/officeDocument/2006/relationships/image" Target="../media/image79.png"/><Relationship Id="rId57" Type="http://schemas.openxmlformats.org/officeDocument/2006/relationships/image" Target="../media/image87.png"/><Relationship Id="rId10" Type="http://schemas.openxmlformats.org/officeDocument/2006/relationships/image" Target="../media/image40.png"/><Relationship Id="rId31" Type="http://schemas.openxmlformats.org/officeDocument/2006/relationships/image" Target="../media/image61.png"/><Relationship Id="rId44" Type="http://schemas.openxmlformats.org/officeDocument/2006/relationships/image" Target="../media/image74.png"/><Relationship Id="rId52" Type="http://schemas.openxmlformats.org/officeDocument/2006/relationships/image" Target="../media/image82.png"/><Relationship Id="rId60" Type="http://schemas.openxmlformats.org/officeDocument/2006/relationships/image" Target="../media/image90.png"/><Relationship Id="rId65" Type="http://schemas.openxmlformats.org/officeDocument/2006/relationships/image" Target="../media/image95.png"/><Relationship Id="rId4" Type="http://schemas.openxmlformats.org/officeDocument/2006/relationships/image" Target="../media/image34.jpeg"/><Relationship Id="rId9" Type="http://schemas.openxmlformats.org/officeDocument/2006/relationships/image" Target="../media/image39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9" Type="http://schemas.openxmlformats.org/officeDocument/2006/relationships/image" Target="../media/image69.png"/><Relationship Id="rId34" Type="http://schemas.openxmlformats.org/officeDocument/2006/relationships/image" Target="../media/image64.png"/><Relationship Id="rId50" Type="http://schemas.openxmlformats.org/officeDocument/2006/relationships/image" Target="../media/image80.png"/><Relationship Id="rId55" Type="http://schemas.openxmlformats.org/officeDocument/2006/relationships/image" Target="../media/image8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rapidapi.com/rahilkhan224/api/indian-railway-irctc" TargetMode="External"/><Relationship Id="rId13" Type="http://schemas.openxmlformats.org/officeDocument/2006/relationships/hyperlink" Target="https://wiki.openstreetmap.org/wiki/Overpass_API" TargetMode="External"/><Relationship Id="rId18" Type="http://schemas.openxmlformats.org/officeDocument/2006/relationships/hyperlink" Target="https://arxiv.org/abs/1806.02825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indianrailapi.com/api-collection/average-delaty-of-rain" TargetMode="External"/><Relationship Id="rId12" Type="http://schemas.openxmlformats.org/officeDocument/2006/relationships/hyperlink" Target="https://www.openstreetmap.org/#map=7/28.623/77.877&amp;layers=T" TargetMode="External"/><Relationship Id="rId17" Type="http://schemas.openxmlformats.org/officeDocument/2006/relationships/hyperlink" Target="https://ietresearch.onlinelibrary.wiley.com/doi/10.1049/itr2.12461" TargetMode="External"/><Relationship Id="rId2" Type="http://schemas.openxmlformats.org/officeDocument/2006/relationships/notesSlide" Target="../notesSlides/notesSlide4.xml"/><Relationship Id="rId16" Type="http://schemas.openxmlformats.org/officeDocument/2006/relationships/hyperlink" Target="https://er.indianrailways.gov.in/view_detail.jsp?lang=0&amp;id=0,4,268&amp;dcd=1661&amp;did=1575893674821A55EF609919750C816D6889E74905B28#:~:text=Real%2Dtime%20Train%20Information%20System%20(RTIS),Indian%20Space%20Research%20Organisation%20(ISRO)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ailkit.in/" TargetMode="External"/><Relationship Id="rId11" Type="http://schemas.openxmlformats.org/officeDocument/2006/relationships/hyperlink" Target="https://arxiv.org/abs/1603.02754" TargetMode="External"/><Relationship Id="rId5" Type="http://schemas.openxmlformats.org/officeDocument/2006/relationships/hyperlink" Target="https://www.kaggle.com/datasets/rxydenxd/indian-railways-delay-dataset" TargetMode="External"/><Relationship Id="rId15" Type="http://schemas.openxmlformats.org/officeDocument/2006/relationships/hyperlink" Target="https://arxiv.org/abs/2510.01262" TargetMode="External"/><Relationship Id="rId10" Type="http://schemas.openxmlformats.org/officeDocument/2006/relationships/hyperlink" Target="https://www.microsoft.com/en-us/research/project/lightgbm/" TargetMode="External"/><Relationship Id="rId4" Type="http://schemas.openxmlformats.org/officeDocument/2006/relationships/hyperlink" Target="https://github.com/bbiswas99/ETA-for-Coaching-Trains" TargetMode="External"/><Relationship Id="rId9" Type="http://schemas.openxmlformats.org/officeDocument/2006/relationships/hyperlink" Target="https://rapidapi.com/amiteshgupta/api/irctc-indian-railway-pnr-status" TargetMode="External"/><Relationship Id="rId14" Type="http://schemas.openxmlformats.org/officeDocument/2006/relationships/hyperlink" Target="https://download.geofabrik.de/asia/india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743450" y="1148473"/>
            <a:ext cx="2705100" cy="498118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19528"/>
            <a:ext cx="10363200" cy="1061992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752600"/>
            <a:ext cx="592455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26028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dirty="0"/>
              <a:t>Dynamic Forecast of Expected Time of Arrival (ETA) for Coaching Trains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/>
              <a:t>Smart Automation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170668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Name: </a:t>
            </a:r>
            <a:r>
              <a:rPr lang="en-US" sz="2400" dirty="0"/>
              <a:t>SteamX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1D9D20-F007-0548-D492-DBDC15B57470}"/>
              </a:ext>
            </a:extLst>
          </p:cNvPr>
          <p:cNvSpPr txBox="1"/>
          <p:nvPr/>
        </p:nvSpPr>
        <p:spPr>
          <a:xfrm>
            <a:off x="9890620" y="6393050"/>
            <a:ext cx="2222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SHREE RADHE SHYAM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E4E42-2122-E8C1-8458-205286321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99D0204-3443-2715-8ECF-19AE278B5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4AC3A0EF-D1AE-A00E-F34C-5FD171257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649901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3B146-7545-002A-C8B9-B2DFF28A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B9797AB-DDF3-8681-7225-EC4062231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A91495-79ED-A86D-EA60-766590DD1C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5" name="Text 28">
            <a:extLst>
              <a:ext uri="{FF2B5EF4-FFF2-40B4-BE49-F238E27FC236}">
                <a16:creationId xmlns:a16="http://schemas.microsoft.com/office/drawing/2014/main" id="{09C4C235-EDD9-F8EB-DFFB-DAFBA940B640}"/>
              </a:ext>
            </a:extLst>
          </p:cNvPr>
          <p:cNvSpPr/>
          <p:nvPr/>
        </p:nvSpPr>
        <p:spPr>
          <a:xfrm>
            <a:off x="11110078" y="6481657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059CEEAB-97EC-2727-CB11-35B8652910A7}"/>
              </a:ext>
            </a:extLst>
          </p:cNvPr>
          <p:cNvSpPr/>
          <p:nvPr/>
        </p:nvSpPr>
        <p:spPr>
          <a:xfrm>
            <a:off x="0" y="457516"/>
            <a:ext cx="1219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ANUMAAN (</a:t>
            </a:r>
            <a:r>
              <a:rPr lang="en-US" sz="2000" b="1" dirty="0">
                <a:solidFill>
                  <a:srgbClr val="0070C0"/>
                </a:solidFill>
              </a:rPr>
              <a:t>An</a:t>
            </a:r>
            <a:r>
              <a:rPr lang="en-US" sz="2000" dirty="0">
                <a:solidFill>
                  <a:srgbClr val="0070C0"/>
                </a:solidFill>
              </a:rPr>
              <a:t>alytical </a:t>
            </a:r>
            <a:r>
              <a:rPr lang="en-US" sz="2000" b="1" dirty="0">
                <a:solidFill>
                  <a:srgbClr val="0070C0"/>
                </a:solidFill>
              </a:rPr>
              <a:t>U</a:t>
            </a:r>
            <a:r>
              <a:rPr lang="en-US" sz="2000" dirty="0">
                <a:solidFill>
                  <a:srgbClr val="0070C0"/>
                </a:solidFill>
              </a:rPr>
              <a:t>ncertainty </a:t>
            </a:r>
            <a:r>
              <a:rPr lang="en-US" sz="2000" b="1" dirty="0">
                <a:solidFill>
                  <a:srgbClr val="0070C0"/>
                </a:solidFill>
              </a:rPr>
              <a:t>M</a:t>
            </a:r>
            <a:r>
              <a:rPr lang="en-US" sz="2000" dirty="0">
                <a:solidFill>
                  <a:srgbClr val="0070C0"/>
                </a:solidFill>
              </a:rPr>
              <a:t>odel for </a:t>
            </a:r>
            <a:r>
              <a:rPr lang="en-US" sz="2000" b="1" dirty="0">
                <a:solidFill>
                  <a:srgbClr val="0070C0"/>
                </a:solidFill>
              </a:rPr>
              <a:t>A</a:t>
            </a:r>
            <a:r>
              <a:rPr lang="en-US" sz="2000" dirty="0">
                <a:solidFill>
                  <a:srgbClr val="0070C0"/>
                </a:solidFill>
              </a:rPr>
              <a:t>rrival &amp; </a:t>
            </a:r>
            <a:r>
              <a:rPr lang="en-US" sz="2000" b="1" dirty="0">
                <a:solidFill>
                  <a:srgbClr val="0070C0"/>
                </a:solidFill>
              </a:rPr>
              <a:t>An</a:t>
            </a:r>
            <a:r>
              <a:rPr lang="en-US" sz="2000" dirty="0">
                <a:solidFill>
                  <a:srgbClr val="0070C0"/>
                </a:solidFill>
              </a:rPr>
              <a:t>alytics</a:t>
            </a:r>
            <a:r>
              <a:rPr lang="en-US" sz="20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27D1359E-6CBC-ED6F-9832-F587AF1AE786}"/>
              </a:ext>
            </a:extLst>
          </p:cNvPr>
          <p:cNvSpPr/>
          <p:nvPr/>
        </p:nvSpPr>
        <p:spPr>
          <a:xfrm>
            <a:off x="334257" y="1063837"/>
            <a:ext cx="6575502" cy="5180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A live pipeline that predicts each coaching train’s ETA at its next stations using historical delay patterns, current position, real track geometry, future track conflicts, and inferred crossing/precedence risk not just the static timetable.</a:t>
            </a:r>
          </a:p>
          <a:p>
            <a:pPr marL="0" indent="0">
              <a:buNone/>
            </a:pPr>
            <a:endParaRPr lang="en-US" sz="1400" dirty="0">
              <a:solidFill>
                <a:srgbClr val="1B2A3D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b="1" kern="0" spc="100" dirty="0">
                <a:solidFill>
                  <a:srgbClr val="0B2E59"/>
                </a:solidFill>
                <a:ea typeface="Calibri" pitchFamily="34" charset="-122"/>
                <a:cs typeface="Calibri" pitchFamily="34" charset="-120"/>
              </a:rPr>
              <a:t>HOW IT WORKS</a:t>
            </a:r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rgbClr val="00B050"/>
                </a:solidFill>
                <a:ea typeface="Calibri" pitchFamily="34" charset="-122"/>
                <a:cs typeface="Calibri" pitchFamily="34" charset="-120"/>
              </a:rPr>
              <a:t>Historical delay dataset </a:t>
            </a:r>
            <a:r>
              <a:rPr lang="en-US" sz="1300" dirty="0">
                <a:ea typeface="Calibri" pitchFamily="34" charset="-122"/>
                <a:cs typeface="Calibri" pitchFamily="34" charset="-120"/>
              </a:rPr>
              <a:t>(Kaggle)</a:t>
            </a:r>
            <a:r>
              <a:rPr lang="en-US" sz="1300" b="1" dirty="0">
                <a:solidFill>
                  <a:srgbClr val="00B050"/>
                </a:solidFill>
                <a:ea typeface="Calibri" pitchFamily="34" charset="-122"/>
                <a:cs typeface="Calibri" pitchFamily="34" charset="-120"/>
              </a:rPr>
              <a:t> + live delay motoring </a:t>
            </a:r>
            <a:r>
              <a:rPr lang="en-US" sz="1300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(API) </a:t>
            </a:r>
            <a:r>
              <a:rPr lang="en-US" sz="1300" b="1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+ </a:t>
            </a:r>
            <a:r>
              <a:rPr lang="en-US" sz="1300" b="1" u="sng" dirty="0">
                <a:solidFill>
                  <a:srgbClr val="00B050"/>
                </a:solidFill>
                <a:ea typeface="Calibri" pitchFamily="34" charset="-122"/>
                <a:cs typeface="Calibri" pitchFamily="34" charset="-120"/>
              </a:rPr>
              <a:t>OSM GeoFabric</a:t>
            </a:r>
            <a:r>
              <a:rPr lang="en-US" sz="1300" b="1" dirty="0">
                <a:solidFill>
                  <a:srgbClr val="00B050"/>
                </a:solidFill>
                <a:ea typeface="Calibri" pitchFamily="34" charset="-122"/>
                <a:cs typeface="Calibri" pitchFamily="34" charset="-120"/>
              </a:rPr>
              <a:t> track geometry</a:t>
            </a:r>
            <a:r>
              <a:rPr lang="en-US" sz="1300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 feed a joined per-train &amp; station master table.</a:t>
            </a:r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/>
              <a:t>A large set of features for the final </a:t>
            </a:r>
            <a:r>
              <a:rPr lang="en-US" sz="1300" b="1" dirty="0">
                <a:solidFill>
                  <a:srgbClr val="00B050"/>
                </a:solidFill>
              </a:rPr>
              <a:t>40+ features in total</a:t>
            </a:r>
            <a:r>
              <a:rPr lang="en-US" sz="1300" b="1" dirty="0"/>
              <a:t> </a:t>
            </a:r>
            <a:r>
              <a:rPr lang="en-US" sz="1300" dirty="0"/>
              <a:t>(after feature engineering).</a:t>
            </a:r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A </a:t>
            </a:r>
            <a:r>
              <a:rPr lang="en-US" sz="1300" b="1" dirty="0">
                <a:solidFill>
                  <a:srgbClr val="00B050"/>
                </a:solidFill>
                <a:ea typeface="Calibri" pitchFamily="34" charset="-122"/>
                <a:cs typeface="Calibri" pitchFamily="34" charset="-120"/>
              </a:rPr>
              <a:t>multi-model setup</a:t>
            </a:r>
            <a:r>
              <a:rPr lang="en-US" sz="1300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: baseline (on historical data) + tree-ensemble (on live data)</a:t>
            </a:r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Models predicts delay on top of the baseline, with an </a:t>
            </a:r>
            <a:r>
              <a:rPr lang="en-US" sz="1300" b="1" dirty="0">
                <a:solidFill>
                  <a:srgbClr val="00B050"/>
                </a:solidFill>
                <a:ea typeface="Calibri" pitchFamily="34" charset="-122"/>
                <a:cs typeface="Calibri" pitchFamily="34" charset="-120"/>
              </a:rPr>
              <a:t>uncertainty band not a single guess</a:t>
            </a:r>
            <a:r>
              <a:rPr lang="en-US" sz="1300" b="1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Precedence-inference engine: </a:t>
            </a:r>
            <a:r>
              <a:rPr lang="en-US" sz="1300" b="1" dirty="0">
                <a:solidFill>
                  <a:srgbClr val="00B050"/>
                </a:solidFill>
                <a:ea typeface="Calibri" pitchFamily="34" charset="-122"/>
                <a:cs typeface="Calibri" pitchFamily="34" charset="-120"/>
              </a:rPr>
              <a:t>infers which train conflicts to which</a:t>
            </a:r>
            <a:r>
              <a:rPr lang="en-US" sz="1300" b="1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at a section from position + priority-class patterns + section reach time.</a:t>
            </a:r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/>
              <a:t>OSM GeoFabric identifies the train’s actual </a:t>
            </a:r>
            <a:r>
              <a:rPr lang="en-US" sz="1300" b="1" dirty="0">
                <a:solidFill>
                  <a:srgbClr val="00B050"/>
                </a:solidFill>
              </a:rPr>
              <a:t>route</a:t>
            </a:r>
            <a:r>
              <a:rPr lang="en-US" sz="1300" dirty="0"/>
              <a:t> by </a:t>
            </a:r>
            <a:r>
              <a:rPr lang="en-US" sz="1300" b="1" dirty="0">
                <a:solidFill>
                  <a:srgbClr val="00B050"/>
                </a:solidFill>
              </a:rPr>
              <a:t>matching its travelled distance with the railway track topology</a:t>
            </a:r>
            <a:r>
              <a:rPr lang="en-US" sz="1300" dirty="0"/>
              <a:t> using a route-finding algorithm.</a:t>
            </a:r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rgbClr val="00B050"/>
                </a:solidFill>
                <a:ea typeface="Calibri" pitchFamily="34" charset="-122"/>
                <a:cs typeface="Calibri" pitchFamily="34" charset="-120"/>
              </a:rPr>
              <a:t>Single swap-point design</a:t>
            </a:r>
            <a:r>
              <a:rPr lang="en-US" sz="1300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: prototype live delay monitoring &amp; route position estimator sit in  exactly the slot real </a:t>
            </a:r>
            <a:r>
              <a:rPr lang="en-US" sz="1300" b="1" u="sng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CRIS/ISRO RTIS GPS</a:t>
            </a:r>
            <a:r>
              <a:rPr lang="en-US" sz="1300" b="1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 data</a:t>
            </a:r>
            <a:r>
              <a:rPr lang="en-US" sz="1300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 will occupy — </a:t>
            </a:r>
            <a:r>
              <a:rPr lang="en-US" sz="1300" b="1" dirty="0">
                <a:solidFill>
                  <a:srgbClr val="00B050"/>
                </a:solidFill>
                <a:ea typeface="Calibri" pitchFamily="34" charset="-122"/>
                <a:cs typeface="Calibri" pitchFamily="34" charset="-120"/>
              </a:rPr>
              <a:t>zero redesign at production handoff</a:t>
            </a:r>
            <a:r>
              <a:rPr lang="en-US" sz="1300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Confidence-scored: </a:t>
            </a:r>
            <a:r>
              <a:rPr lang="en-US" sz="1300" b="1" dirty="0">
                <a:solidFill>
                  <a:srgbClr val="00B050"/>
                </a:solidFill>
                <a:ea typeface="Calibri" pitchFamily="34" charset="-122"/>
                <a:cs typeface="Calibri" pitchFamily="34" charset="-120"/>
              </a:rPr>
              <a:t>explainable ETA</a:t>
            </a:r>
            <a:r>
              <a:rPr lang="en-US" sz="1300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 (SHAP-based “why”).</a:t>
            </a:r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b="1" dirty="0">
                <a:solidFill>
                  <a:srgbClr val="00B050"/>
                </a:solidFill>
                <a:ea typeface="Calibri" pitchFamily="34" charset="-122"/>
                <a:cs typeface="Calibri" pitchFamily="34" charset="-120"/>
              </a:rPr>
              <a:t>Live-simulation &amp; future simulation </a:t>
            </a:r>
            <a:r>
              <a:rPr lang="en-US" sz="1300" dirty="0">
                <a:ea typeface="Calibri" pitchFamily="34" charset="-122"/>
                <a:cs typeface="Calibri" pitchFamily="34" charset="-120"/>
              </a:rPr>
              <a:t>of journey</a:t>
            </a:r>
            <a:r>
              <a:rPr lang="en-US" sz="1300" b="1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E1038359-B38F-34AD-2827-6E81F1886A08}"/>
              </a:ext>
            </a:extLst>
          </p:cNvPr>
          <p:cNvSpPr/>
          <p:nvPr/>
        </p:nvSpPr>
        <p:spPr>
          <a:xfrm>
            <a:off x="503038" y="1400787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1300" dirty="0"/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51D038C4-0086-DB75-AD45-C7A30BF185E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01353"/>
            <a:ext cx="135509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SteamX</a:t>
            </a:r>
            <a:endParaRPr lang="en-IN" dirty="0"/>
          </a:p>
        </p:txBody>
      </p:sp>
      <p:sp>
        <p:nvSpPr>
          <p:cNvPr id="8" name="Shape 67">
            <a:extLst>
              <a:ext uri="{FF2B5EF4-FFF2-40B4-BE49-F238E27FC236}">
                <a16:creationId xmlns:a16="http://schemas.microsoft.com/office/drawing/2014/main" id="{0FFB4D36-326C-5448-C9A7-4B3C05146A4D}"/>
              </a:ext>
            </a:extLst>
          </p:cNvPr>
          <p:cNvSpPr/>
          <p:nvPr/>
        </p:nvSpPr>
        <p:spPr>
          <a:xfrm>
            <a:off x="6909759" y="1085049"/>
            <a:ext cx="2932981" cy="2587055"/>
          </a:xfrm>
          <a:prstGeom prst="roundRect">
            <a:avLst>
              <a:gd name="adj" fmla="val 3704"/>
            </a:avLst>
          </a:prstGeom>
          <a:solidFill>
            <a:srgbClr val="FDE9E9"/>
          </a:solidFill>
          <a:ln w="25400">
            <a:solidFill>
              <a:srgbClr val="C0504D"/>
            </a:solidFill>
            <a:prstDash val="solid"/>
          </a:ln>
          <a:effectLst>
            <a:outerShdw blurRad="50800" dist="38100" dir="2700000" algn="bl" rotWithShape="0">
              <a:srgbClr val="88888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8">
            <a:extLst>
              <a:ext uri="{FF2B5EF4-FFF2-40B4-BE49-F238E27FC236}">
                <a16:creationId xmlns:a16="http://schemas.microsoft.com/office/drawing/2014/main" id="{18FEA8F3-98B8-1C67-319E-E2DF37BCEFA1}"/>
              </a:ext>
            </a:extLst>
          </p:cNvPr>
          <p:cNvSpPr/>
          <p:nvPr/>
        </p:nvSpPr>
        <p:spPr>
          <a:xfrm>
            <a:off x="6909759" y="1071107"/>
            <a:ext cx="2932981" cy="310896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69">
            <a:extLst>
              <a:ext uri="{FF2B5EF4-FFF2-40B4-BE49-F238E27FC236}">
                <a16:creationId xmlns:a16="http://schemas.microsoft.com/office/drawing/2014/main" id="{BC5C211A-A0AD-CAC3-13B1-F48F0909BD32}"/>
              </a:ext>
            </a:extLst>
          </p:cNvPr>
          <p:cNvSpPr txBox="1"/>
          <p:nvPr/>
        </p:nvSpPr>
        <p:spPr>
          <a:xfrm>
            <a:off x="6909759" y="1071107"/>
            <a:ext cx="29329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Reality</a:t>
            </a:r>
            <a:endParaRPr lang="en-US" sz="1300" dirty="0"/>
          </a:p>
        </p:txBody>
      </p:sp>
      <p:sp>
        <p:nvSpPr>
          <p:cNvPr id="13" name="Text 70">
            <a:extLst>
              <a:ext uri="{FF2B5EF4-FFF2-40B4-BE49-F238E27FC236}">
                <a16:creationId xmlns:a16="http://schemas.microsoft.com/office/drawing/2014/main" id="{76ED59D1-753A-90DF-7D03-521B012DD406}"/>
              </a:ext>
            </a:extLst>
          </p:cNvPr>
          <p:cNvSpPr txBox="1"/>
          <p:nvPr/>
        </p:nvSpPr>
        <p:spPr>
          <a:xfrm>
            <a:off x="7094315" y="1422681"/>
            <a:ext cx="26857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Shows only present-moment delay</a:t>
            </a:r>
            <a:endParaRPr lang="en-US" sz="1300" dirty="0"/>
          </a:p>
        </p:txBody>
      </p:sp>
      <p:sp>
        <p:nvSpPr>
          <p:cNvPr id="14" name="Text 71">
            <a:extLst>
              <a:ext uri="{FF2B5EF4-FFF2-40B4-BE49-F238E27FC236}">
                <a16:creationId xmlns:a16="http://schemas.microsoft.com/office/drawing/2014/main" id="{5A0CF5BF-2913-2D64-622C-E73B45A3060B}"/>
              </a:ext>
            </a:extLst>
          </p:cNvPr>
          <p:cNvSpPr txBox="1"/>
          <p:nvPr/>
        </p:nvSpPr>
        <p:spPr>
          <a:xfrm>
            <a:off x="7094315" y="1733577"/>
            <a:ext cx="26857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future station ETA at all</a:t>
            </a:r>
            <a:endParaRPr lang="en-US" sz="1300" dirty="0"/>
          </a:p>
        </p:txBody>
      </p:sp>
      <p:sp>
        <p:nvSpPr>
          <p:cNvPr id="15" name="Text 72">
            <a:extLst>
              <a:ext uri="{FF2B5EF4-FFF2-40B4-BE49-F238E27FC236}">
                <a16:creationId xmlns:a16="http://schemas.microsoft.com/office/drawing/2014/main" id="{2980AD58-29DA-FA3F-68A4-2017A3839C12}"/>
              </a:ext>
            </a:extLst>
          </p:cNvPr>
          <p:cNvSpPr txBox="1"/>
          <p:nvPr/>
        </p:nvSpPr>
        <p:spPr>
          <a:xfrm>
            <a:off x="7094315" y="2044473"/>
            <a:ext cx="26857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Train conflicts invisible</a:t>
            </a:r>
            <a:endParaRPr lang="en-US" sz="1300" dirty="0"/>
          </a:p>
        </p:txBody>
      </p:sp>
      <p:sp>
        <p:nvSpPr>
          <p:cNvPr id="16" name="Text 73">
            <a:extLst>
              <a:ext uri="{FF2B5EF4-FFF2-40B4-BE49-F238E27FC236}">
                <a16:creationId xmlns:a16="http://schemas.microsoft.com/office/drawing/2014/main" id="{1B43B04E-26C1-8216-B9FC-EB60D21CB919}"/>
              </a:ext>
            </a:extLst>
          </p:cNvPr>
          <p:cNvSpPr txBox="1"/>
          <p:nvPr/>
        </p:nvSpPr>
        <p:spPr>
          <a:xfrm>
            <a:off x="7094315" y="2355369"/>
            <a:ext cx="26857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Static schedule assumed</a:t>
            </a:r>
            <a:endParaRPr lang="en-US" sz="1300" dirty="0"/>
          </a:p>
        </p:txBody>
      </p:sp>
      <p:sp>
        <p:nvSpPr>
          <p:cNvPr id="17" name="Text 74">
            <a:extLst>
              <a:ext uri="{FF2B5EF4-FFF2-40B4-BE49-F238E27FC236}">
                <a16:creationId xmlns:a16="http://schemas.microsoft.com/office/drawing/2014/main" id="{A3CA0C13-6650-6834-62A9-6B05A15B5E63}"/>
              </a:ext>
            </a:extLst>
          </p:cNvPr>
          <p:cNvSpPr txBox="1"/>
          <p:nvPr/>
        </p:nvSpPr>
        <p:spPr>
          <a:xfrm>
            <a:off x="7094315" y="2666265"/>
            <a:ext cx="26857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Single number, no uncertainty</a:t>
            </a:r>
            <a:endParaRPr lang="en-US" sz="1300" dirty="0"/>
          </a:p>
        </p:txBody>
      </p:sp>
      <p:sp>
        <p:nvSpPr>
          <p:cNvPr id="18" name="Text 75">
            <a:extLst>
              <a:ext uri="{FF2B5EF4-FFF2-40B4-BE49-F238E27FC236}">
                <a16:creationId xmlns:a16="http://schemas.microsoft.com/office/drawing/2014/main" id="{C716E67F-7780-C9F1-5FAF-78B235B6C47D}"/>
              </a:ext>
            </a:extLst>
          </p:cNvPr>
          <p:cNvSpPr txBox="1"/>
          <p:nvPr/>
        </p:nvSpPr>
        <p:spPr>
          <a:xfrm>
            <a:off x="7094315" y="2977161"/>
            <a:ext cx="26857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route topology awareness</a:t>
            </a:r>
            <a:endParaRPr lang="en-US" sz="1300" dirty="0"/>
          </a:p>
        </p:txBody>
      </p:sp>
      <p:sp>
        <p:nvSpPr>
          <p:cNvPr id="19" name="Text 76">
            <a:extLst>
              <a:ext uri="{FF2B5EF4-FFF2-40B4-BE49-F238E27FC236}">
                <a16:creationId xmlns:a16="http://schemas.microsoft.com/office/drawing/2014/main" id="{B1EE7F0E-98AA-4FCD-A03E-3CE3B814D679}"/>
              </a:ext>
            </a:extLst>
          </p:cNvPr>
          <p:cNvSpPr txBox="1"/>
          <p:nvPr/>
        </p:nvSpPr>
        <p:spPr>
          <a:xfrm>
            <a:off x="7094315" y="3288057"/>
            <a:ext cx="26857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explainability — just a number</a:t>
            </a:r>
            <a:endParaRPr lang="en-US" sz="1300" dirty="0"/>
          </a:p>
        </p:txBody>
      </p:sp>
      <p:sp>
        <p:nvSpPr>
          <p:cNvPr id="22" name="Shape 79">
            <a:extLst>
              <a:ext uri="{FF2B5EF4-FFF2-40B4-BE49-F238E27FC236}">
                <a16:creationId xmlns:a16="http://schemas.microsoft.com/office/drawing/2014/main" id="{BB0B7248-B82A-020D-8A39-A744D985D8AD}"/>
              </a:ext>
            </a:extLst>
          </p:cNvPr>
          <p:cNvSpPr/>
          <p:nvPr/>
        </p:nvSpPr>
        <p:spPr>
          <a:xfrm>
            <a:off x="6909759" y="3727970"/>
            <a:ext cx="5170387" cy="2589633"/>
          </a:xfrm>
          <a:prstGeom prst="roundRect">
            <a:avLst>
              <a:gd name="adj" fmla="val 3448"/>
            </a:avLst>
          </a:prstGeom>
          <a:solidFill>
            <a:srgbClr val="D9F2EE"/>
          </a:solidFill>
          <a:ln w="25400">
            <a:solidFill>
              <a:srgbClr val="1F6B5E"/>
            </a:solidFill>
            <a:prstDash val="solid"/>
          </a:ln>
          <a:effectLst>
            <a:outerShdw blurRad="50800" dist="38100" dir="2700000" algn="bl" rotWithShape="0">
              <a:srgbClr val="888888">
                <a:alpha val="22000"/>
              </a:srgbClr>
            </a:outerShdw>
          </a:effectLst>
        </p:spPr>
        <p:txBody>
          <a:bodyPr/>
          <a:lstStyle/>
          <a:p>
            <a:endParaRPr lang="en-US" sz="1300"/>
          </a:p>
        </p:txBody>
      </p:sp>
      <p:sp>
        <p:nvSpPr>
          <p:cNvPr id="23" name="Shape 80">
            <a:extLst>
              <a:ext uri="{FF2B5EF4-FFF2-40B4-BE49-F238E27FC236}">
                <a16:creationId xmlns:a16="http://schemas.microsoft.com/office/drawing/2014/main" id="{8F416B4B-0B59-7E03-9D56-91187DD60BEE}"/>
              </a:ext>
            </a:extLst>
          </p:cNvPr>
          <p:cNvSpPr/>
          <p:nvPr/>
        </p:nvSpPr>
        <p:spPr>
          <a:xfrm>
            <a:off x="6909759" y="3727971"/>
            <a:ext cx="5170387" cy="310896"/>
          </a:xfrm>
          <a:prstGeom prst="rect">
            <a:avLst/>
          </a:prstGeom>
          <a:solidFill>
            <a:srgbClr val="1F6B5E"/>
          </a:solidFill>
          <a:ln w="12700">
            <a:solidFill>
              <a:srgbClr val="1F6B5E"/>
            </a:solidFill>
            <a:prstDash val="solid"/>
          </a:ln>
        </p:spPr>
        <p:txBody>
          <a:bodyPr/>
          <a:lstStyle/>
          <a:p>
            <a:endParaRPr lang="en-US" sz="1300" dirty="0"/>
          </a:p>
        </p:txBody>
      </p:sp>
      <p:sp>
        <p:nvSpPr>
          <p:cNvPr id="24" name="Text 81">
            <a:extLst>
              <a:ext uri="{FF2B5EF4-FFF2-40B4-BE49-F238E27FC236}">
                <a16:creationId xmlns:a16="http://schemas.microsoft.com/office/drawing/2014/main" id="{365DF902-D9B7-25C3-E181-811B9537CF55}"/>
              </a:ext>
            </a:extLst>
          </p:cNvPr>
          <p:cNvSpPr txBox="1"/>
          <p:nvPr/>
        </p:nvSpPr>
        <p:spPr>
          <a:xfrm>
            <a:off x="8204438" y="3727971"/>
            <a:ext cx="2250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ANUMAAN  Provides</a:t>
            </a:r>
            <a:endParaRPr lang="en-US" sz="1300" dirty="0"/>
          </a:p>
        </p:txBody>
      </p:sp>
      <p:sp>
        <p:nvSpPr>
          <p:cNvPr id="25" name="Text 82">
            <a:extLst>
              <a:ext uri="{FF2B5EF4-FFF2-40B4-BE49-F238E27FC236}">
                <a16:creationId xmlns:a16="http://schemas.microsoft.com/office/drawing/2014/main" id="{3D674902-F9AC-5B7B-CA4B-FEBCEAA019E6}"/>
              </a:ext>
            </a:extLst>
          </p:cNvPr>
          <p:cNvSpPr txBox="1"/>
          <p:nvPr/>
        </p:nvSpPr>
        <p:spPr>
          <a:xfrm>
            <a:off x="7094314" y="4068180"/>
            <a:ext cx="46321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Predicts delay at EVERY future station — full journey at once</a:t>
            </a:r>
            <a:endParaRPr lang="en-US" sz="1300" dirty="0"/>
          </a:p>
        </p:txBody>
      </p:sp>
      <p:sp>
        <p:nvSpPr>
          <p:cNvPr id="26" name="Text 83">
            <a:extLst>
              <a:ext uri="{FF2B5EF4-FFF2-40B4-BE49-F238E27FC236}">
                <a16:creationId xmlns:a16="http://schemas.microsoft.com/office/drawing/2014/main" id="{CAFEE0E8-9823-CA49-BDF1-DB20F21694BE}"/>
              </a:ext>
            </a:extLst>
          </p:cNvPr>
          <p:cNvSpPr txBox="1"/>
          <p:nvPr/>
        </p:nvSpPr>
        <p:spPr>
          <a:xfrm>
            <a:off x="7094314" y="4379076"/>
            <a:ext cx="46321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Uncertainty bands (confidence scores), not a single guess</a:t>
            </a:r>
            <a:endParaRPr lang="en-US" sz="1300" dirty="0"/>
          </a:p>
        </p:txBody>
      </p:sp>
      <p:sp>
        <p:nvSpPr>
          <p:cNvPr id="27" name="Text 84">
            <a:extLst>
              <a:ext uri="{FF2B5EF4-FFF2-40B4-BE49-F238E27FC236}">
                <a16:creationId xmlns:a16="http://schemas.microsoft.com/office/drawing/2014/main" id="{1B8B02CC-F0F3-1EB1-F195-5DA1101F086C}"/>
              </a:ext>
            </a:extLst>
          </p:cNvPr>
          <p:cNvSpPr txBox="1"/>
          <p:nvPr/>
        </p:nvSpPr>
        <p:spPr>
          <a:xfrm>
            <a:off x="7094314" y="4689972"/>
            <a:ext cx="46321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Models train conflicts &amp; crossing delays via ML-Model-B</a:t>
            </a:r>
            <a:endParaRPr lang="en-US" sz="1300" dirty="0"/>
          </a:p>
        </p:txBody>
      </p:sp>
      <p:sp>
        <p:nvSpPr>
          <p:cNvPr id="28" name="Text 85">
            <a:extLst>
              <a:ext uri="{FF2B5EF4-FFF2-40B4-BE49-F238E27FC236}">
                <a16:creationId xmlns:a16="http://schemas.microsoft.com/office/drawing/2014/main" id="{EF38122E-4044-9B2E-5A95-60CA74EB9EAC}"/>
              </a:ext>
            </a:extLst>
          </p:cNvPr>
          <p:cNvSpPr txBox="1"/>
          <p:nvPr/>
        </p:nvSpPr>
        <p:spPr>
          <a:xfrm>
            <a:off x="7094314" y="5000868"/>
            <a:ext cx="46321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OSM GeoFabric: real Indian Railway track topology &amp; geometry</a:t>
            </a:r>
            <a:endParaRPr lang="en-US" sz="1300" dirty="0"/>
          </a:p>
        </p:txBody>
      </p:sp>
      <p:sp>
        <p:nvSpPr>
          <p:cNvPr id="29" name="Text 86">
            <a:extLst>
              <a:ext uri="{FF2B5EF4-FFF2-40B4-BE49-F238E27FC236}">
                <a16:creationId xmlns:a16="http://schemas.microsoft.com/office/drawing/2014/main" id="{365D96E0-891C-21B7-87D0-8870E9AC82C2}"/>
              </a:ext>
            </a:extLst>
          </p:cNvPr>
          <p:cNvSpPr txBox="1"/>
          <p:nvPr/>
        </p:nvSpPr>
        <p:spPr>
          <a:xfrm>
            <a:off x="7094314" y="5311764"/>
            <a:ext cx="46321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SHAP-based explainability — tells WHY a delay is predicted</a:t>
            </a:r>
            <a:endParaRPr lang="en-US" sz="1300" dirty="0"/>
          </a:p>
        </p:txBody>
      </p:sp>
      <p:sp>
        <p:nvSpPr>
          <p:cNvPr id="30" name="Text 87">
            <a:extLst>
              <a:ext uri="{FF2B5EF4-FFF2-40B4-BE49-F238E27FC236}">
                <a16:creationId xmlns:a16="http://schemas.microsoft.com/office/drawing/2014/main" id="{FFE56956-53E4-1F21-FE51-F324B141A67C}"/>
              </a:ext>
            </a:extLst>
          </p:cNvPr>
          <p:cNvSpPr txBox="1"/>
          <p:nvPr/>
        </p:nvSpPr>
        <p:spPr>
          <a:xfrm>
            <a:off x="7094314" y="5622660"/>
            <a:ext cx="46321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 replay + future journey simulation capability</a:t>
            </a:r>
            <a:endParaRPr lang="en-US" sz="1300" dirty="0"/>
          </a:p>
        </p:txBody>
      </p:sp>
      <p:sp>
        <p:nvSpPr>
          <p:cNvPr id="31" name="Text 88">
            <a:extLst>
              <a:ext uri="{FF2B5EF4-FFF2-40B4-BE49-F238E27FC236}">
                <a16:creationId xmlns:a16="http://schemas.microsoft.com/office/drawing/2014/main" id="{FFB82EE4-BFAD-6D02-1388-213C0FEE75AB}"/>
              </a:ext>
            </a:extLst>
          </p:cNvPr>
          <p:cNvSpPr txBox="1"/>
          <p:nvPr/>
        </p:nvSpPr>
        <p:spPr>
          <a:xfrm>
            <a:off x="7094314" y="5933556"/>
            <a:ext cx="46321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Historical fallback if live API is offline — always available</a:t>
            </a:r>
            <a:endParaRPr lang="en-US" sz="13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35F2D5-7C2F-1775-C003-324434252A1C}"/>
              </a:ext>
            </a:extLst>
          </p:cNvPr>
          <p:cNvSpPr/>
          <p:nvPr/>
        </p:nvSpPr>
        <p:spPr>
          <a:xfrm>
            <a:off x="9940101" y="1086578"/>
            <a:ext cx="2140045" cy="2585526"/>
          </a:xfrm>
          <a:prstGeom prst="rect">
            <a:avLst/>
          </a:prstGeom>
          <a:solidFill>
            <a:srgbClr val="FFA75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1001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rgbClr val="002060"/>
                </a:solidFill>
              </a:rPr>
              <a:t>Innovation &amp; Uniqueness</a:t>
            </a:r>
          </a:p>
          <a:p>
            <a:pPr algn="ctr"/>
            <a:endParaRPr 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Dataset (</a:t>
            </a:r>
            <a:r>
              <a:rPr lang="en-US" sz="14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Point-2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en-US" sz="1400" dirty="0">
              <a:solidFill>
                <a:srgbClr val="1B2A3D"/>
              </a:solidFill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Precedence (</a:t>
            </a:r>
            <a:r>
              <a:rPr lang="en-US" sz="1400" u="sng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Point-5</a:t>
            </a:r>
            <a:r>
              <a:rPr lang="en-US" sz="1400" dirty="0">
                <a:solidFill>
                  <a:srgbClr val="1B2A3D"/>
                </a:solidFill>
                <a:ea typeface="Calibri" pitchFamily="34" charset="-122"/>
                <a:cs typeface="Calibri" pitchFamily="34" charset="-12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Real-Route estimation (</a:t>
            </a:r>
            <a:r>
              <a:rPr lang="en-US" sz="14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Point-6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Future scope (</a:t>
            </a:r>
            <a:r>
              <a:rPr lang="en-US" sz="14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Point-7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754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6251D-971A-CF1A-AFDA-9FED6EC05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634993-2683-6FF6-3DA1-12E4FAD6032C}"/>
              </a:ext>
            </a:extLst>
          </p:cNvPr>
          <p:cNvSpPr txBox="1"/>
          <p:nvPr/>
        </p:nvSpPr>
        <p:spPr>
          <a:xfrm>
            <a:off x="2398881" y="3664736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JSON, CSV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81953F-1871-8385-2981-C5BCD76CC876}"/>
              </a:ext>
            </a:extLst>
          </p:cNvPr>
          <p:cNvSpPr txBox="1"/>
          <p:nvPr/>
        </p:nvSpPr>
        <p:spPr>
          <a:xfrm>
            <a:off x="-16000" y="3566500"/>
            <a:ext cx="1037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paraquet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276035-902F-468E-BEB0-55CF491D699B}"/>
              </a:ext>
            </a:extLst>
          </p:cNvPr>
          <p:cNvSpPr txBox="1"/>
          <p:nvPr/>
        </p:nvSpPr>
        <p:spPr>
          <a:xfrm>
            <a:off x="5231916" y="4224082"/>
            <a:ext cx="864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NumPy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67C922-9E55-CC4A-AB81-1A1D1F417829}"/>
              </a:ext>
            </a:extLst>
          </p:cNvPr>
          <p:cNvSpPr txBox="1"/>
          <p:nvPr/>
        </p:nvSpPr>
        <p:spPr>
          <a:xfrm>
            <a:off x="5046959" y="3704134"/>
            <a:ext cx="1168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Matplotlib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8566ED-3DA3-DD47-C571-0F14FFCDB6DF}"/>
              </a:ext>
            </a:extLst>
          </p:cNvPr>
          <p:cNvSpPr txBox="1"/>
          <p:nvPr/>
        </p:nvSpPr>
        <p:spPr>
          <a:xfrm>
            <a:off x="5320955" y="3412118"/>
            <a:ext cx="670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SciPY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3C6598-B9F6-3BD4-A9C3-FEC581A2088C}"/>
              </a:ext>
            </a:extLst>
          </p:cNvPr>
          <p:cNvSpPr txBox="1"/>
          <p:nvPr/>
        </p:nvSpPr>
        <p:spPr>
          <a:xfrm>
            <a:off x="4846683" y="2948694"/>
            <a:ext cx="1553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Pandas, JobLib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1F83C0-EFCD-C9F2-E916-47F7C21A8989}"/>
              </a:ext>
            </a:extLst>
          </p:cNvPr>
          <p:cNvSpPr txBox="1"/>
          <p:nvPr/>
        </p:nvSpPr>
        <p:spPr>
          <a:xfrm>
            <a:off x="5004017" y="2167433"/>
            <a:ext cx="1254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Apache Arrow PYArrow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BA8A59-329D-1F91-20AB-FD18B1D98B65}"/>
              </a:ext>
            </a:extLst>
          </p:cNvPr>
          <p:cNvSpPr txBox="1"/>
          <p:nvPr/>
        </p:nvSpPr>
        <p:spPr>
          <a:xfrm>
            <a:off x="3547901" y="5416757"/>
            <a:ext cx="908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Uvicorn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43096E-E68A-4D90-9E9B-90D032F2ADC1}"/>
              </a:ext>
            </a:extLst>
          </p:cNvPr>
          <p:cNvSpPr txBox="1"/>
          <p:nvPr/>
        </p:nvSpPr>
        <p:spPr>
          <a:xfrm>
            <a:off x="951159" y="5580794"/>
            <a:ext cx="39750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React.js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Vite, Next.js, Fast API, Pydantic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B4044D-0CED-FC1C-3643-2FFB3A1B752F}"/>
              </a:ext>
            </a:extLst>
          </p:cNvPr>
          <p:cNvSpPr txBox="1"/>
          <p:nvPr/>
        </p:nvSpPr>
        <p:spPr>
          <a:xfrm>
            <a:off x="3406021" y="2717862"/>
            <a:ext cx="14480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XGBoost</a:t>
            </a:r>
          </a:p>
          <a:p>
            <a:r>
              <a:rPr lang="en-US" sz="1600" dirty="0">
                <a:solidFill>
                  <a:schemeClr val="bg1"/>
                </a:solidFill>
              </a:rPr>
              <a:t>Random Forest</a:t>
            </a:r>
          </a:p>
          <a:p>
            <a:r>
              <a:rPr lang="en-US" sz="1600" dirty="0">
                <a:solidFill>
                  <a:schemeClr val="bg1"/>
                </a:solidFill>
              </a:rPr>
              <a:t>SciKit Learn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9F9A3B-A116-0CEE-2D1C-55A2E92A0087}"/>
              </a:ext>
            </a:extLst>
          </p:cNvPr>
          <p:cNvSpPr txBox="1"/>
          <p:nvPr/>
        </p:nvSpPr>
        <p:spPr>
          <a:xfrm>
            <a:off x="399163" y="2549420"/>
            <a:ext cx="21035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LightGBM by Microsoft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E8E0D5-D9B9-7732-01FC-496337071672}"/>
              </a:ext>
            </a:extLst>
          </p:cNvPr>
          <p:cNvSpPr txBox="1"/>
          <p:nvPr/>
        </p:nvSpPr>
        <p:spPr>
          <a:xfrm>
            <a:off x="948449" y="1390270"/>
            <a:ext cx="783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kaggle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DF9DC9-2D5D-FDA9-C701-978CCBB0C746}"/>
              </a:ext>
            </a:extLst>
          </p:cNvPr>
          <p:cNvSpPr txBox="1"/>
          <p:nvPr/>
        </p:nvSpPr>
        <p:spPr>
          <a:xfrm>
            <a:off x="4456147" y="990526"/>
            <a:ext cx="10934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Leaflet.js</a:t>
            </a:r>
          </a:p>
          <a:p>
            <a:r>
              <a:rPr lang="en-US" dirty="0">
                <a:solidFill>
                  <a:schemeClr val="bg1"/>
                </a:solidFill>
              </a:rPr>
              <a:t>Osmium</a:t>
            </a:r>
          </a:p>
          <a:p>
            <a:r>
              <a:rPr lang="en-US" dirty="0">
                <a:solidFill>
                  <a:schemeClr val="bg1"/>
                </a:solidFill>
              </a:rPr>
              <a:t>Networkx</a:t>
            </a:r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14614FC1-4EC4-42AD-A8F4-5A070B49F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17" y="3110261"/>
            <a:ext cx="1205952" cy="904464"/>
          </a:xfrm>
          <a:prstGeom prst="rect">
            <a:avLst/>
          </a:prstGeom>
        </p:spPr>
      </p:pic>
      <p:pic>
        <p:nvPicPr>
          <p:cNvPr id="121" name="Picture 120" descr="Understanding the Parquet file format">
            <a:extLst>
              <a:ext uri="{FF2B5EF4-FFF2-40B4-BE49-F238E27FC236}">
                <a16:creationId xmlns:a16="http://schemas.microsoft.com/office/drawing/2014/main" id="{2A13D0A9-21C1-5C97-4B00-5B3BEBBAF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286" y="3560078"/>
            <a:ext cx="759479" cy="506783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245A132A-BEDD-096E-3D26-8F0A618D0C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9278" y="5633369"/>
            <a:ext cx="991241" cy="991241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77CE036D-A12E-D705-D0D9-87DF142072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8354" y="5864685"/>
            <a:ext cx="920596" cy="576030"/>
          </a:xfrm>
          <a:prstGeom prst="rect">
            <a:avLst/>
          </a:prstGeom>
        </p:spPr>
      </p:pic>
      <p:pic>
        <p:nvPicPr>
          <p:cNvPr id="107" name="Picture 106" descr="Deep Dive into Pyarrow: Understanding its Features and Benefits | by Saeed  Mohajeryami, PhD | Level Up Coding">
            <a:extLst>
              <a:ext uri="{FF2B5EF4-FFF2-40B4-BE49-F238E27FC236}">
                <a16:creationId xmlns:a16="http://schemas.microsoft.com/office/drawing/2014/main" id="{91539FCC-38C8-1F86-5BA8-D344F9C132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5511" y="2098343"/>
            <a:ext cx="1041651" cy="566241"/>
          </a:xfrm>
          <a:prstGeom prst="rect">
            <a:avLst/>
          </a:prstGeom>
        </p:spPr>
      </p:pic>
      <p:pic>
        <p:nvPicPr>
          <p:cNvPr id="88" name="Picture 87" descr="Free networkx-original-wordmark Vector SVG Icon Download | Online Free  DevTools by Hexmos">
            <a:extLst>
              <a:ext uri="{FF2B5EF4-FFF2-40B4-BE49-F238E27FC236}">
                <a16:creationId xmlns:a16="http://schemas.microsoft.com/office/drawing/2014/main" id="{50D98381-96F9-8180-6B67-FD91AF0F91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2613" y="1176278"/>
            <a:ext cx="951174" cy="951174"/>
          </a:xfrm>
          <a:prstGeom prst="rect">
            <a:avLst/>
          </a:prstGeom>
        </p:spPr>
      </p:pic>
      <p:pic>
        <p:nvPicPr>
          <p:cNvPr id="102" name="Picture 101" descr="NumPy logo refresh · Issue #37 · numpy/numpy.org">
            <a:extLst>
              <a:ext uri="{FF2B5EF4-FFF2-40B4-BE49-F238E27FC236}">
                <a16:creationId xmlns:a16="http://schemas.microsoft.com/office/drawing/2014/main" id="{C2D25874-FB56-369C-8169-9224BBE4A4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8632" y="4066862"/>
            <a:ext cx="586884" cy="586884"/>
          </a:xfrm>
          <a:prstGeom prst="rect">
            <a:avLst/>
          </a:prstGeom>
        </p:spPr>
      </p:pic>
      <p:pic>
        <p:nvPicPr>
          <p:cNvPr id="93" name="Picture 92" descr="Api Icon&quot; Images – Browse 795 Stock Photos, Vectors, and Video | Adobe Stock">
            <a:extLst>
              <a:ext uri="{FF2B5EF4-FFF2-40B4-BE49-F238E27FC236}">
                <a16:creationId xmlns:a16="http://schemas.microsoft.com/office/drawing/2014/main" id="{F8EC2713-9841-3F49-B6D4-857E7817EB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92042" y="1403587"/>
            <a:ext cx="589628" cy="589628"/>
          </a:xfrm>
          <a:prstGeom prst="rect">
            <a:avLst/>
          </a:prstGeom>
        </p:spPr>
      </p:pic>
      <p:pic>
        <p:nvPicPr>
          <p:cNvPr id="89" name="Picture 88" descr="Vite logo idea by Marcis Bergmanis on Dribbble">
            <a:extLst>
              <a:ext uri="{FF2B5EF4-FFF2-40B4-BE49-F238E27FC236}">
                <a16:creationId xmlns:a16="http://schemas.microsoft.com/office/drawing/2014/main" id="{C640C402-9469-02EC-B25C-381A25B1B6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1377" y="5806629"/>
            <a:ext cx="816977" cy="530166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40BE4F45-D6D3-428D-42BC-12CA5E106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5" name="Title 1">
            <a:extLst>
              <a:ext uri="{FF2B5EF4-FFF2-40B4-BE49-F238E27FC236}">
                <a16:creationId xmlns:a16="http://schemas.microsoft.com/office/drawing/2014/main" id="{4F0FAD11-82E3-711F-C315-3450DC220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709261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6" name="Slide Number Placeholder 5">
            <a:extLst>
              <a:ext uri="{FF2B5EF4-FFF2-40B4-BE49-F238E27FC236}">
                <a16:creationId xmlns:a16="http://schemas.microsoft.com/office/drawing/2014/main" id="{DD2A127E-5D58-8A13-146A-462E89276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1092" y="6356353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7" name="Footer Placeholder 6">
            <a:extLst>
              <a:ext uri="{FF2B5EF4-FFF2-40B4-BE49-F238E27FC236}">
                <a16:creationId xmlns:a16="http://schemas.microsoft.com/office/drawing/2014/main" id="{18A78EF2-E567-131E-B2F9-64D9D9CDA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2EE7D2FD-63D4-4048-2408-0EDC94D6442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70" name="Text 27">
            <a:extLst>
              <a:ext uri="{FF2B5EF4-FFF2-40B4-BE49-F238E27FC236}">
                <a16:creationId xmlns:a16="http://schemas.microsoft.com/office/drawing/2014/main" id="{FA45D3EE-F25E-0C36-87DE-BFE71C5B1AEC}"/>
              </a:ext>
            </a:extLst>
          </p:cNvPr>
          <p:cNvSpPr/>
          <p:nvPr/>
        </p:nvSpPr>
        <p:spPr>
          <a:xfrm>
            <a:off x="3308439" y="575408"/>
            <a:ext cx="55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FLOW (</a:t>
            </a:r>
            <a:r>
              <a:rPr lang="en-US" sz="1600" b="1" kern="0" spc="100" dirty="0">
                <a:solidFill>
                  <a:srgbClr val="0B2E59"/>
                </a:solidFill>
                <a:ea typeface="Calibri" pitchFamily="34" charset="-122"/>
                <a:cs typeface="Calibri" pitchFamily="34" charset="-120"/>
              </a:rPr>
              <a:t>Detailed Plan in GitHub Repo</a:t>
            </a:r>
            <a:r>
              <a:rPr lang="en-US" sz="1600" b="1" kern="0" spc="100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73" name="Oval 72" descr="Your startup LOGO">
            <a:extLst>
              <a:ext uri="{FF2B5EF4-FFF2-40B4-BE49-F238E27FC236}">
                <a16:creationId xmlns:a16="http://schemas.microsoft.com/office/drawing/2014/main" id="{67CB0DDC-4124-9FF7-F492-F0AEC1ED671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01353"/>
            <a:ext cx="135509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SteamX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6E64D4-16E4-3FA1-1A70-5B68E61F6D82}"/>
              </a:ext>
            </a:extLst>
          </p:cNvPr>
          <p:cNvSpPr/>
          <p:nvPr/>
        </p:nvSpPr>
        <p:spPr>
          <a:xfrm>
            <a:off x="6310934" y="4409054"/>
            <a:ext cx="5719002" cy="555783"/>
          </a:xfrm>
          <a:prstGeom prst="rect">
            <a:avLst/>
          </a:prstGeom>
          <a:solidFill>
            <a:srgbClr val="FFA75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1001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Working prototype link: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hlinkClick r:id="rId13"/>
              </a:rPr>
              <a:t>https://darkgray-raven-872718.hostingersite.com/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en-US" sz="1400" dirty="0">
                <a:solidFill>
                  <a:schemeClr val="tx1"/>
                </a:solidFill>
              </a:rPr>
              <a:t>8,542 train routes successfully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F3C29455-BB41-FEE4-EC36-0930B581382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09499" y="4387732"/>
            <a:ext cx="133586" cy="131998"/>
          </a:xfrm>
          <a:prstGeom prst="rect">
            <a:avLst/>
          </a:prstGeom>
        </p:spPr>
      </p:pic>
      <p:sp>
        <p:nvSpPr>
          <p:cNvPr id="8" name="Shape 1">
            <a:extLst>
              <a:ext uri="{FF2B5EF4-FFF2-40B4-BE49-F238E27FC236}">
                <a16:creationId xmlns:a16="http://schemas.microsoft.com/office/drawing/2014/main" id="{1500CA8C-1938-3451-F741-9FD23D18488B}"/>
              </a:ext>
            </a:extLst>
          </p:cNvPr>
          <p:cNvSpPr/>
          <p:nvPr/>
        </p:nvSpPr>
        <p:spPr>
          <a:xfrm>
            <a:off x="3065538" y="4168666"/>
            <a:ext cx="1498223" cy="576031"/>
          </a:xfrm>
          <a:prstGeom prst="roundRect">
            <a:avLst>
              <a:gd name="adj" fmla="val 17544"/>
            </a:avLst>
          </a:prstGeom>
          <a:solidFill>
            <a:srgbClr val="89EF98"/>
          </a:solidFill>
          <a:ln w="9525">
            <a:solidFill>
              <a:srgbClr val="6D87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55CBC1E9-D7C7-BCCE-3C17-09A76A62EBB4}"/>
              </a:ext>
            </a:extLst>
          </p:cNvPr>
          <p:cNvSpPr/>
          <p:nvPr/>
        </p:nvSpPr>
        <p:spPr>
          <a:xfrm>
            <a:off x="3154595" y="4269721"/>
            <a:ext cx="1321267" cy="343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Reasons for delay,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scores.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1" name="Image 7" descr="preencoded.png">
            <a:extLst>
              <a:ext uri="{FF2B5EF4-FFF2-40B4-BE49-F238E27FC236}">
                <a16:creationId xmlns:a16="http://schemas.microsoft.com/office/drawing/2014/main" id="{A81BBC7B-3CD2-A067-ED8F-3F09881028B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82994" y="2175774"/>
            <a:ext cx="478683" cy="1975915"/>
          </a:xfrm>
          <a:prstGeom prst="rect">
            <a:avLst/>
          </a:prstGeom>
        </p:spPr>
      </p:pic>
      <p:sp>
        <p:nvSpPr>
          <p:cNvPr id="12" name="Shape 18">
            <a:extLst>
              <a:ext uri="{FF2B5EF4-FFF2-40B4-BE49-F238E27FC236}">
                <a16:creationId xmlns:a16="http://schemas.microsoft.com/office/drawing/2014/main" id="{65A1D875-D058-E0CE-39A6-43ECC8351606}"/>
              </a:ext>
            </a:extLst>
          </p:cNvPr>
          <p:cNvSpPr/>
          <p:nvPr/>
        </p:nvSpPr>
        <p:spPr>
          <a:xfrm>
            <a:off x="482878" y="4128240"/>
            <a:ext cx="2193035" cy="666983"/>
          </a:xfrm>
          <a:prstGeom prst="roundRect">
            <a:avLst>
              <a:gd name="adj" fmla="val 18182"/>
            </a:avLst>
          </a:prstGeom>
          <a:solidFill>
            <a:srgbClr val="EBBEF9"/>
          </a:solidFill>
          <a:ln w="19050">
            <a:solidFill>
              <a:srgbClr val="827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B2B0C570-122A-4F27-BA9C-5E3D095EB5EB}"/>
              </a:ext>
            </a:extLst>
          </p:cNvPr>
          <p:cNvSpPr/>
          <p:nvPr/>
        </p:nvSpPr>
        <p:spPr>
          <a:xfrm>
            <a:off x="627596" y="4259618"/>
            <a:ext cx="1959260" cy="394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ETA prediction for whole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journey station wise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5" name="Image 8" descr="preencoded.png">
            <a:extLst>
              <a:ext uri="{FF2B5EF4-FFF2-40B4-BE49-F238E27FC236}">
                <a16:creationId xmlns:a16="http://schemas.microsoft.com/office/drawing/2014/main" id="{899118DB-1093-B30A-1042-A3825C93B89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3637" y="3338546"/>
            <a:ext cx="1770013" cy="759263"/>
          </a:xfrm>
          <a:prstGeom prst="rect">
            <a:avLst/>
          </a:prstGeom>
        </p:spPr>
      </p:pic>
      <p:sp>
        <p:nvSpPr>
          <p:cNvPr id="16" name="Shape 20">
            <a:extLst>
              <a:ext uri="{FF2B5EF4-FFF2-40B4-BE49-F238E27FC236}">
                <a16:creationId xmlns:a16="http://schemas.microsoft.com/office/drawing/2014/main" id="{C81382D7-0ADB-510B-E48A-CF4C269E0F7E}"/>
              </a:ext>
            </a:extLst>
          </p:cNvPr>
          <p:cNvSpPr/>
          <p:nvPr/>
        </p:nvSpPr>
        <p:spPr>
          <a:xfrm>
            <a:off x="1782561" y="2913524"/>
            <a:ext cx="1733829" cy="576031"/>
          </a:xfrm>
          <a:prstGeom prst="roundRect">
            <a:avLst>
              <a:gd name="adj" fmla="val 22807"/>
            </a:avLst>
          </a:prstGeom>
          <a:solidFill>
            <a:srgbClr val="89EF98"/>
          </a:solidFill>
          <a:ln w="9525">
            <a:solidFill>
              <a:srgbClr val="6C87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309AADAD-E1D2-B22A-E485-A975FEDB59F5}"/>
              </a:ext>
            </a:extLst>
          </p:cNvPr>
          <p:cNvSpPr/>
          <p:nvPr/>
        </p:nvSpPr>
        <p:spPr>
          <a:xfrm>
            <a:off x="2508930" y="3186239"/>
            <a:ext cx="267172" cy="121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E0FBFBC5-AB09-D7CB-819C-D4088C4DA6A2}"/>
              </a:ext>
            </a:extLst>
          </p:cNvPr>
          <p:cNvSpPr/>
          <p:nvPr/>
        </p:nvSpPr>
        <p:spPr>
          <a:xfrm>
            <a:off x="1802038" y="2957616"/>
            <a:ext cx="1703222" cy="5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for unscheduled halts for complete route…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Shape 23">
            <a:extLst>
              <a:ext uri="{FF2B5EF4-FFF2-40B4-BE49-F238E27FC236}">
                <a16:creationId xmlns:a16="http://schemas.microsoft.com/office/drawing/2014/main" id="{14528CE1-6AFA-D6B4-B741-2CF30DB9B859}"/>
              </a:ext>
            </a:extLst>
          </p:cNvPr>
          <p:cNvSpPr/>
          <p:nvPr/>
        </p:nvSpPr>
        <p:spPr>
          <a:xfrm>
            <a:off x="93251" y="2913524"/>
            <a:ext cx="1558506" cy="576031"/>
          </a:xfrm>
          <a:prstGeom prst="roundRect">
            <a:avLst>
              <a:gd name="adj" fmla="val 17544"/>
            </a:avLst>
          </a:prstGeom>
          <a:solidFill>
            <a:srgbClr val="89EF98"/>
          </a:solidFill>
          <a:ln w="9525">
            <a:solidFill>
              <a:srgbClr val="6E88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4">
            <a:extLst>
              <a:ext uri="{FF2B5EF4-FFF2-40B4-BE49-F238E27FC236}">
                <a16:creationId xmlns:a16="http://schemas.microsoft.com/office/drawing/2014/main" id="{219B716C-E213-53A5-A2B8-25C29E56ECA7}"/>
              </a:ext>
            </a:extLst>
          </p:cNvPr>
          <p:cNvSpPr/>
          <p:nvPr/>
        </p:nvSpPr>
        <p:spPr>
          <a:xfrm>
            <a:off x="93252" y="2933735"/>
            <a:ext cx="1558502" cy="525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delay, arrival &amp; departure timings…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1" name="Image 10" descr="preencoded.png">
            <a:extLst>
              <a:ext uri="{FF2B5EF4-FFF2-40B4-BE49-F238E27FC236}">
                <a16:creationId xmlns:a16="http://schemas.microsoft.com/office/drawing/2014/main" id="{73331D28-F157-97BB-D35A-AFB86A5AB8E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98178" y="2458621"/>
            <a:ext cx="645665" cy="369854"/>
          </a:xfrm>
          <a:prstGeom prst="rect">
            <a:avLst/>
          </a:prstGeom>
        </p:spPr>
      </p:pic>
      <p:pic>
        <p:nvPicPr>
          <p:cNvPr id="22" name="Image 11" descr="preencoded.png">
            <a:extLst>
              <a:ext uri="{FF2B5EF4-FFF2-40B4-BE49-F238E27FC236}">
                <a16:creationId xmlns:a16="http://schemas.microsoft.com/office/drawing/2014/main" id="{33B338A7-1E62-60CA-A5DB-1369FD65987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2503" y="2458621"/>
            <a:ext cx="111321" cy="369854"/>
          </a:xfrm>
          <a:prstGeom prst="rect">
            <a:avLst/>
          </a:prstGeom>
        </p:spPr>
      </p:pic>
      <p:sp>
        <p:nvSpPr>
          <p:cNvPr id="23" name="Text 40">
            <a:extLst>
              <a:ext uri="{FF2B5EF4-FFF2-40B4-BE49-F238E27FC236}">
                <a16:creationId xmlns:a16="http://schemas.microsoft.com/office/drawing/2014/main" id="{667351E2-AAF8-5B7C-A1BD-138F2537C23B}"/>
              </a:ext>
            </a:extLst>
          </p:cNvPr>
          <p:cNvSpPr/>
          <p:nvPr/>
        </p:nvSpPr>
        <p:spPr>
          <a:xfrm>
            <a:off x="2653649" y="2059836"/>
            <a:ext cx="1547370" cy="171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/>
          </a:p>
        </p:txBody>
      </p:sp>
      <p:sp>
        <p:nvSpPr>
          <p:cNvPr id="24" name="Shape 42">
            <a:extLst>
              <a:ext uri="{FF2B5EF4-FFF2-40B4-BE49-F238E27FC236}">
                <a16:creationId xmlns:a16="http://schemas.microsoft.com/office/drawing/2014/main" id="{84E4C12C-4457-6B40-D640-5395F11811D4}"/>
              </a:ext>
            </a:extLst>
          </p:cNvPr>
          <p:cNvSpPr/>
          <p:nvPr/>
        </p:nvSpPr>
        <p:spPr>
          <a:xfrm>
            <a:off x="104385" y="1836920"/>
            <a:ext cx="1647558" cy="576031"/>
          </a:xfrm>
          <a:prstGeom prst="roundRect">
            <a:avLst>
              <a:gd name="adj" fmla="val 14474"/>
            </a:avLst>
          </a:prstGeom>
          <a:solidFill>
            <a:srgbClr val="3BCBDB"/>
          </a:solidFill>
          <a:ln w="9525">
            <a:solidFill>
              <a:srgbClr val="3D76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3" descr="preencoded.png">
            <a:extLst>
              <a:ext uri="{FF2B5EF4-FFF2-40B4-BE49-F238E27FC236}">
                <a16:creationId xmlns:a16="http://schemas.microsoft.com/office/drawing/2014/main" id="{0D6DA1E9-1368-BD45-B718-0B0F3B0A334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77429" y="1443379"/>
            <a:ext cx="578872" cy="474384"/>
          </a:xfrm>
          <a:prstGeom prst="rect">
            <a:avLst/>
          </a:prstGeom>
        </p:spPr>
      </p:pic>
      <p:pic>
        <p:nvPicPr>
          <p:cNvPr id="26" name="Image 14" descr="preencoded.png">
            <a:extLst>
              <a:ext uri="{FF2B5EF4-FFF2-40B4-BE49-F238E27FC236}">
                <a16:creationId xmlns:a16="http://schemas.microsoft.com/office/drawing/2014/main" id="{9E3F83E1-A2E9-D6AA-D6DA-C0102A514D1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09499" y="1443381"/>
            <a:ext cx="556609" cy="490198"/>
          </a:xfrm>
          <a:prstGeom prst="rect">
            <a:avLst/>
          </a:prstGeom>
        </p:spPr>
      </p:pic>
      <p:pic>
        <p:nvPicPr>
          <p:cNvPr id="27" name="Image 15" descr="preencoded.png">
            <a:extLst>
              <a:ext uri="{FF2B5EF4-FFF2-40B4-BE49-F238E27FC236}">
                <a16:creationId xmlns:a16="http://schemas.microsoft.com/office/drawing/2014/main" id="{7C069B7D-30B4-87E6-EDBE-D8FAB1CAC25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2503" y="1453485"/>
            <a:ext cx="111321" cy="347435"/>
          </a:xfrm>
          <a:prstGeom prst="rect">
            <a:avLst/>
          </a:prstGeom>
        </p:spPr>
      </p:pic>
      <p:sp>
        <p:nvSpPr>
          <p:cNvPr id="28" name="Shape 44">
            <a:extLst>
              <a:ext uri="{FF2B5EF4-FFF2-40B4-BE49-F238E27FC236}">
                <a16:creationId xmlns:a16="http://schemas.microsoft.com/office/drawing/2014/main" id="{9D2837D3-6EC2-8089-9846-0079CD5AB71E}"/>
              </a:ext>
            </a:extLst>
          </p:cNvPr>
          <p:cNvSpPr/>
          <p:nvPr/>
        </p:nvSpPr>
        <p:spPr>
          <a:xfrm>
            <a:off x="3477429" y="998725"/>
            <a:ext cx="1246801" cy="414338"/>
          </a:xfrm>
          <a:prstGeom prst="roundRect">
            <a:avLst>
              <a:gd name="adj" fmla="val 21341"/>
            </a:avLst>
          </a:prstGeom>
          <a:solidFill>
            <a:srgbClr val="FCE052"/>
          </a:solidFill>
          <a:ln w="9525">
            <a:solidFill>
              <a:srgbClr val="7D6A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45">
            <a:extLst>
              <a:ext uri="{FF2B5EF4-FFF2-40B4-BE49-F238E27FC236}">
                <a16:creationId xmlns:a16="http://schemas.microsoft.com/office/drawing/2014/main" id="{6FF9F522-0866-FB4B-7123-624A93CADDBF}"/>
              </a:ext>
            </a:extLst>
          </p:cNvPr>
          <p:cNvSpPr/>
          <p:nvPr/>
        </p:nvSpPr>
        <p:spPr>
          <a:xfrm>
            <a:off x="3534128" y="1020773"/>
            <a:ext cx="1141473" cy="361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OSM GeoFabric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0" name="Shape 46">
            <a:extLst>
              <a:ext uri="{FF2B5EF4-FFF2-40B4-BE49-F238E27FC236}">
                <a16:creationId xmlns:a16="http://schemas.microsoft.com/office/drawing/2014/main" id="{2391B018-3B59-46CB-8FB0-151E9E60F5C9}"/>
              </a:ext>
            </a:extLst>
          </p:cNvPr>
          <p:cNvSpPr/>
          <p:nvPr/>
        </p:nvSpPr>
        <p:spPr>
          <a:xfrm>
            <a:off x="2119305" y="998725"/>
            <a:ext cx="1235669" cy="414338"/>
          </a:xfrm>
          <a:prstGeom prst="roundRect">
            <a:avLst>
              <a:gd name="adj" fmla="val 21341"/>
            </a:avLst>
          </a:prstGeom>
          <a:solidFill>
            <a:srgbClr val="FCE052"/>
          </a:solidFill>
          <a:ln w="9525">
            <a:solidFill>
              <a:srgbClr val="7A67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47">
            <a:extLst>
              <a:ext uri="{FF2B5EF4-FFF2-40B4-BE49-F238E27FC236}">
                <a16:creationId xmlns:a16="http://schemas.microsoft.com/office/drawing/2014/main" id="{DF41440D-3DAA-5522-C0B2-6AFE268680E5}"/>
              </a:ext>
            </a:extLst>
          </p:cNvPr>
          <p:cNvSpPr/>
          <p:nvPr/>
        </p:nvSpPr>
        <p:spPr>
          <a:xfrm>
            <a:off x="2174964" y="1049253"/>
            <a:ext cx="1124348" cy="33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</a:p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2" name="Shape 48">
            <a:extLst>
              <a:ext uri="{FF2B5EF4-FFF2-40B4-BE49-F238E27FC236}">
                <a16:creationId xmlns:a16="http://schemas.microsoft.com/office/drawing/2014/main" id="{7A4E73B2-05EB-5895-DFDB-C97C25AD7E00}"/>
              </a:ext>
            </a:extLst>
          </p:cNvPr>
          <p:cNvSpPr/>
          <p:nvPr/>
        </p:nvSpPr>
        <p:spPr>
          <a:xfrm>
            <a:off x="315895" y="998725"/>
            <a:ext cx="1235669" cy="414338"/>
          </a:xfrm>
          <a:prstGeom prst="roundRect">
            <a:avLst>
              <a:gd name="adj" fmla="val 14634"/>
            </a:avLst>
          </a:prstGeom>
          <a:solidFill>
            <a:srgbClr val="FCE052"/>
          </a:solidFill>
          <a:ln w="9525">
            <a:solidFill>
              <a:srgbClr val="867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49">
            <a:extLst>
              <a:ext uri="{FF2B5EF4-FFF2-40B4-BE49-F238E27FC236}">
                <a16:creationId xmlns:a16="http://schemas.microsoft.com/office/drawing/2014/main" id="{D77380CC-B48A-00AA-850B-7B0468C53631}"/>
              </a:ext>
            </a:extLst>
          </p:cNvPr>
          <p:cNvSpPr/>
          <p:nvPr/>
        </p:nvSpPr>
        <p:spPr>
          <a:xfrm>
            <a:off x="338158" y="1049253"/>
            <a:ext cx="1213407" cy="333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4" name="Text 43">
            <a:extLst>
              <a:ext uri="{FF2B5EF4-FFF2-40B4-BE49-F238E27FC236}">
                <a16:creationId xmlns:a16="http://schemas.microsoft.com/office/drawing/2014/main" id="{2DAC6F39-A1E1-149E-978E-ED3B4D081524}"/>
              </a:ext>
            </a:extLst>
          </p:cNvPr>
          <p:cNvSpPr/>
          <p:nvPr/>
        </p:nvSpPr>
        <p:spPr>
          <a:xfrm>
            <a:off x="148911" y="1917764"/>
            <a:ext cx="1558503" cy="384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ML-Model-A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LightGBM by Microsoft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5" name="Shape 42">
            <a:extLst>
              <a:ext uri="{FF2B5EF4-FFF2-40B4-BE49-F238E27FC236}">
                <a16:creationId xmlns:a16="http://schemas.microsoft.com/office/drawing/2014/main" id="{93BE0C9F-11CB-9785-9439-D19FCBF079F5}"/>
              </a:ext>
            </a:extLst>
          </p:cNvPr>
          <p:cNvSpPr/>
          <p:nvPr/>
        </p:nvSpPr>
        <p:spPr>
          <a:xfrm>
            <a:off x="2597988" y="1945364"/>
            <a:ext cx="1647558" cy="576031"/>
          </a:xfrm>
          <a:prstGeom prst="roundRect">
            <a:avLst>
              <a:gd name="adj" fmla="val 14474"/>
            </a:avLst>
          </a:prstGeom>
          <a:solidFill>
            <a:srgbClr val="3BCBDB"/>
          </a:solidFill>
          <a:ln w="9525">
            <a:solidFill>
              <a:srgbClr val="3D76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43">
            <a:extLst>
              <a:ext uri="{FF2B5EF4-FFF2-40B4-BE49-F238E27FC236}">
                <a16:creationId xmlns:a16="http://schemas.microsoft.com/office/drawing/2014/main" id="{E02FD0C1-7F5A-EEE1-3613-57749FA3F57D}"/>
              </a:ext>
            </a:extLst>
          </p:cNvPr>
          <p:cNvSpPr/>
          <p:nvPr/>
        </p:nvSpPr>
        <p:spPr>
          <a:xfrm>
            <a:off x="2642514" y="2026208"/>
            <a:ext cx="1558503" cy="384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ML-Model-B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RF/XGBoost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F5398E3-0B02-3641-4610-D429EAE6CBE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75419" y="5414911"/>
            <a:ext cx="461725" cy="461725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246454A-C2A1-7ECA-5839-56ACD5A7A1CC}"/>
              </a:ext>
            </a:extLst>
          </p:cNvPr>
          <p:cNvCxnSpPr/>
          <p:nvPr/>
        </p:nvCxnSpPr>
        <p:spPr>
          <a:xfrm>
            <a:off x="315895" y="4764822"/>
            <a:ext cx="0" cy="243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0EF13AA-B14D-B133-30D0-361311798BA6}"/>
              </a:ext>
            </a:extLst>
          </p:cNvPr>
          <p:cNvCxnSpPr>
            <a:cxnSpLocks/>
          </p:cNvCxnSpPr>
          <p:nvPr/>
        </p:nvCxnSpPr>
        <p:spPr>
          <a:xfrm>
            <a:off x="315895" y="5008357"/>
            <a:ext cx="43323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AAA7CF9-3D8F-E820-0CC1-90B6C738B37F}"/>
              </a:ext>
            </a:extLst>
          </p:cNvPr>
          <p:cNvCxnSpPr>
            <a:cxnSpLocks/>
          </p:cNvCxnSpPr>
          <p:nvPr/>
        </p:nvCxnSpPr>
        <p:spPr>
          <a:xfrm flipV="1">
            <a:off x="4648200" y="4764822"/>
            <a:ext cx="0" cy="2435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3DC22B2-537F-D7D4-4DE4-815040DAAC1D}"/>
              </a:ext>
            </a:extLst>
          </p:cNvPr>
          <p:cNvCxnSpPr>
            <a:cxnSpLocks/>
          </p:cNvCxnSpPr>
          <p:nvPr/>
        </p:nvCxnSpPr>
        <p:spPr>
          <a:xfrm>
            <a:off x="2519626" y="4998826"/>
            <a:ext cx="0" cy="343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Shape 42">
            <a:extLst>
              <a:ext uri="{FF2B5EF4-FFF2-40B4-BE49-F238E27FC236}">
                <a16:creationId xmlns:a16="http://schemas.microsoft.com/office/drawing/2014/main" id="{FE314706-270D-7F1D-38A7-FF7F081B7827}"/>
              </a:ext>
            </a:extLst>
          </p:cNvPr>
          <p:cNvSpPr/>
          <p:nvPr/>
        </p:nvSpPr>
        <p:spPr>
          <a:xfrm>
            <a:off x="1637144" y="5376380"/>
            <a:ext cx="1765840" cy="576031"/>
          </a:xfrm>
          <a:prstGeom prst="roundRect">
            <a:avLst>
              <a:gd name="adj" fmla="val 14474"/>
            </a:avLst>
          </a:prstGeom>
          <a:solidFill>
            <a:srgbClr val="FCE052"/>
          </a:solidFill>
          <a:ln w="9525">
            <a:solidFill>
              <a:srgbClr val="3D76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43">
            <a:extLst>
              <a:ext uri="{FF2B5EF4-FFF2-40B4-BE49-F238E27FC236}">
                <a16:creationId xmlns:a16="http://schemas.microsoft.com/office/drawing/2014/main" id="{07C0CD6D-BDFB-5B1F-F65F-F8AD88179047}"/>
              </a:ext>
            </a:extLst>
          </p:cNvPr>
          <p:cNvSpPr/>
          <p:nvPr/>
        </p:nvSpPr>
        <p:spPr>
          <a:xfrm>
            <a:off x="1684868" y="5457224"/>
            <a:ext cx="1670390" cy="384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Dashboard</a:t>
            </a:r>
          </a:p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(Control Room/Passenger)</a:t>
            </a: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9AFFFD93-CC66-8E6E-121C-03E1C60E4EC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48850" y="862160"/>
            <a:ext cx="881488" cy="440744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A05C972A-68FA-376A-DB34-3897750EED48}"/>
              </a:ext>
            </a:extLst>
          </p:cNvPr>
          <p:cNvSpPr txBox="1"/>
          <p:nvPr/>
        </p:nvSpPr>
        <p:spPr>
          <a:xfrm>
            <a:off x="4688151" y="1182224"/>
            <a:ext cx="8996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Osmium</a:t>
            </a:r>
            <a:endParaRPr lang="en-US" sz="1600" dirty="0"/>
          </a:p>
        </p:txBody>
      </p:sp>
      <p:pic>
        <p:nvPicPr>
          <p:cNvPr id="92" name="Picture 91" descr="Kaggle Icons - Free Download in SVG, PNG">
            <a:extLst>
              <a:ext uri="{FF2B5EF4-FFF2-40B4-BE49-F238E27FC236}">
                <a16:creationId xmlns:a16="http://schemas.microsoft.com/office/drawing/2014/main" id="{CB30CE4C-EF4F-F782-A717-D89DD449EAF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00008" y="1332654"/>
            <a:ext cx="551462" cy="551462"/>
          </a:xfrm>
          <a:prstGeom prst="rect">
            <a:avLst/>
          </a:prstGeom>
        </p:spPr>
      </p:pic>
      <p:pic>
        <p:nvPicPr>
          <p:cNvPr id="95" name="Picture 94" descr="Getting started with LightGBM and Forecasting | by Machine Learning  Insights | Medium">
            <a:extLst>
              <a:ext uri="{FF2B5EF4-FFF2-40B4-BE49-F238E27FC236}">
                <a16:creationId xmlns:a16="http://schemas.microsoft.com/office/drawing/2014/main" id="{6D1003BE-BC4C-D3A7-22A3-9EC1A2FD0A5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10979" y="2465822"/>
            <a:ext cx="954988" cy="477495"/>
          </a:xfrm>
          <a:prstGeom prst="rect">
            <a:avLst/>
          </a:prstGeom>
        </p:spPr>
      </p:pic>
      <p:pic>
        <p:nvPicPr>
          <p:cNvPr id="96" name="Picture 95" descr="Why Should I Use XGBoost ?. XGBoost (extreme Gradient Boosting) is… | by  Utkarsh-Mishra | Medium">
            <a:extLst>
              <a:ext uri="{FF2B5EF4-FFF2-40B4-BE49-F238E27FC236}">
                <a16:creationId xmlns:a16="http://schemas.microsoft.com/office/drawing/2014/main" id="{776CC040-23CD-2C85-4FCF-56D731760E0C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673466" y="2690380"/>
            <a:ext cx="669940" cy="194948"/>
          </a:xfrm>
          <a:prstGeom prst="rect">
            <a:avLst/>
          </a:prstGeom>
        </p:spPr>
      </p:pic>
      <p:pic>
        <p:nvPicPr>
          <p:cNvPr id="101" name="Picture 100" descr="Pandas/Python Library">
            <a:extLst>
              <a:ext uri="{FF2B5EF4-FFF2-40B4-BE49-F238E27FC236}">
                <a16:creationId xmlns:a16="http://schemas.microsoft.com/office/drawing/2014/main" id="{2DFFBD23-A45E-DE01-4652-819F40E1BC9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999662" y="2679895"/>
            <a:ext cx="658848" cy="658848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90E984EC-50D6-8F94-7322-95F0BED89DA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694527" y="2791400"/>
            <a:ext cx="477070" cy="477070"/>
          </a:xfrm>
          <a:prstGeom prst="rect">
            <a:avLst/>
          </a:prstGeom>
        </p:spPr>
      </p:pic>
      <p:pic>
        <p:nvPicPr>
          <p:cNvPr id="110" name="Picture 109" descr="Matplotlib icon - Free Download PNG &amp; SVG | Streamline">
            <a:extLst>
              <a:ext uri="{FF2B5EF4-FFF2-40B4-BE49-F238E27FC236}">
                <a16:creationId xmlns:a16="http://schemas.microsoft.com/office/drawing/2014/main" id="{692F2491-DCAB-F8E9-1C7C-5AA6358A80F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140041" y="3429365"/>
            <a:ext cx="979383" cy="979383"/>
          </a:xfrm>
          <a:prstGeom prst="rect">
            <a:avLst/>
          </a:prstGeom>
        </p:spPr>
      </p:pic>
      <p:pic>
        <p:nvPicPr>
          <p:cNvPr id="113" name="Picture 112" descr="Fastapi Logo SVG - Free Download">
            <a:extLst>
              <a:ext uri="{FF2B5EF4-FFF2-40B4-BE49-F238E27FC236}">
                <a16:creationId xmlns:a16="http://schemas.microsoft.com/office/drawing/2014/main" id="{C9A63424-C601-2ECE-ED03-CA9546AB32C7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820160" y="5636506"/>
            <a:ext cx="1055455" cy="1055455"/>
          </a:xfrm>
          <a:prstGeom prst="rect">
            <a:avLst/>
          </a:prstGeom>
        </p:spPr>
      </p:pic>
      <p:pic>
        <p:nvPicPr>
          <p:cNvPr id="115" name="Picture 114" descr="Medium">
            <a:extLst>
              <a:ext uri="{FF2B5EF4-FFF2-40B4-BE49-F238E27FC236}">
                <a16:creationId xmlns:a16="http://schemas.microsoft.com/office/drawing/2014/main" id="{A68B74C9-D27E-75CA-5A85-B8194DD617D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638848" y="5195970"/>
            <a:ext cx="685874" cy="685874"/>
          </a:xfrm>
          <a:prstGeom prst="rect">
            <a:avLst/>
          </a:prstGeom>
        </p:spPr>
      </p:pic>
      <p:pic>
        <p:nvPicPr>
          <p:cNvPr id="123" name="Picture 122" descr="Json file - Free interface icons">
            <a:extLst>
              <a:ext uri="{FF2B5EF4-FFF2-40B4-BE49-F238E27FC236}">
                <a16:creationId xmlns:a16="http://schemas.microsoft.com/office/drawing/2014/main" id="{8A4DDB56-7831-7FC3-CEC9-209926F9B0AC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451861" y="3588146"/>
            <a:ext cx="452687" cy="452687"/>
          </a:xfrm>
          <a:prstGeom prst="rect">
            <a:avLst/>
          </a:prstGeom>
        </p:spPr>
      </p:pic>
      <p:pic>
        <p:nvPicPr>
          <p:cNvPr id="125" name="Picture 124" descr="Csv file - Free files and folders icons">
            <a:extLst>
              <a:ext uri="{FF2B5EF4-FFF2-40B4-BE49-F238E27FC236}">
                <a16:creationId xmlns:a16="http://schemas.microsoft.com/office/drawing/2014/main" id="{1D7C2EC0-361D-E67E-A963-B759749F772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958581" y="3557064"/>
            <a:ext cx="535140" cy="53514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839892-2A49-0088-8233-D9DF12F5A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771851"/>
              </p:ext>
            </p:extLst>
          </p:nvPr>
        </p:nvGraphicFramePr>
        <p:xfrm>
          <a:off x="6298279" y="994818"/>
          <a:ext cx="5762070" cy="33545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0121">
                  <a:extLst>
                    <a:ext uri="{9D8B030D-6E8A-4147-A177-3AD203B41FA5}">
                      <a16:colId xmlns:a16="http://schemas.microsoft.com/office/drawing/2014/main" val="2456029384"/>
                    </a:ext>
                  </a:extLst>
                </a:gridCol>
                <a:gridCol w="1449431">
                  <a:extLst>
                    <a:ext uri="{9D8B030D-6E8A-4147-A177-3AD203B41FA5}">
                      <a16:colId xmlns:a16="http://schemas.microsoft.com/office/drawing/2014/main" val="1092206518"/>
                    </a:ext>
                  </a:extLst>
                </a:gridCol>
                <a:gridCol w="3092518">
                  <a:extLst>
                    <a:ext uri="{9D8B030D-6E8A-4147-A177-3AD203B41FA5}">
                      <a16:colId xmlns:a16="http://schemas.microsoft.com/office/drawing/2014/main" val="3408067103"/>
                    </a:ext>
                  </a:extLst>
                </a:gridCol>
              </a:tblGrid>
              <a:tr h="371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Data Source</a:t>
                      </a:r>
                    </a:p>
                  </a:txBody>
                  <a:tcPr anchor="ctr">
                    <a:solidFill>
                      <a:srgbClr val="3BC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Purpose</a:t>
                      </a:r>
                    </a:p>
                  </a:txBody>
                  <a:tcPr anchor="ctr">
                    <a:solidFill>
                      <a:srgbClr val="3BC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Key Information</a:t>
                      </a:r>
                    </a:p>
                  </a:txBody>
                  <a:tcPr anchor="ctr">
                    <a:solidFill>
                      <a:srgbClr val="3BC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281206"/>
                  </a:ext>
                </a:extLst>
              </a:tr>
              <a:tr h="723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Historical Dataset</a:t>
                      </a:r>
                    </a:p>
                  </a:txBody>
                  <a:tcPr anchor="ctr">
                    <a:solidFill>
                      <a:srgbClr val="89EF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Historical train analysis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Schedule, train no., train name, dates, journey days, station-wise arrival/departure, historical delays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300829"/>
                  </a:ext>
                </a:extLst>
              </a:tr>
              <a:tr h="512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Live Dataset</a:t>
                      </a:r>
                    </a:p>
                  </a:txBody>
                  <a:tcPr anchor="ctr">
                    <a:solidFill>
                      <a:srgbClr val="89EF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Real-time monitoring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API-based train delays, updated every 2–3 minutes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008446"/>
                  </a:ext>
                </a:extLst>
              </a:tr>
              <a:tr h="933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OSM GeoFabric</a:t>
                      </a:r>
                    </a:p>
                  </a:txBody>
                  <a:tcPr anchor="ctr">
                    <a:solidFill>
                      <a:srgbClr val="89EF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Railway network topology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Tracks, stations, yards, coordinates, platforms, section speed, electrification, tunnels, bridges, signals, crossings, track direction &amp; railway boundaries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866804"/>
                  </a:ext>
                </a:extLst>
              </a:tr>
              <a:tr h="788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Route Finder</a:t>
                      </a:r>
                    </a:p>
                  </a:txBody>
                  <a:tcPr anchor="ctr">
                    <a:solidFill>
                      <a:srgbClr val="89EF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Real-route estimation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Compares station-to-station distance with OSM track topology to estimate the actual railway route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535100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5B2F253F-EAFD-E44D-53F0-764245E6065C}"/>
              </a:ext>
            </a:extLst>
          </p:cNvPr>
          <p:cNvSpPr txBox="1"/>
          <p:nvPr/>
        </p:nvSpPr>
        <p:spPr>
          <a:xfrm>
            <a:off x="6298278" y="5049601"/>
            <a:ext cx="3625898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0B2E59"/>
                </a:solidFill>
              </a:rPr>
              <a:t>Programming Languages Used</a:t>
            </a:r>
          </a:p>
          <a:p>
            <a:pPr marL="342900" indent="-342900">
              <a:buAutoNum type="arabicPeriod"/>
            </a:pPr>
            <a:r>
              <a:rPr lang="en-US" sz="1400" dirty="0"/>
              <a:t>Python, FastAPI, Pydantic</a:t>
            </a:r>
          </a:p>
          <a:p>
            <a:pPr marL="342900" indent="-342900">
              <a:buAutoNum type="arabicPeriod"/>
            </a:pPr>
            <a:r>
              <a:rPr lang="en-US" sz="1400" dirty="0"/>
              <a:t>JavaScript (React.js with Vite)</a:t>
            </a:r>
          </a:p>
          <a:p>
            <a:pPr marL="342900" indent="-342900">
              <a:buAutoNum type="arabicPeriod"/>
            </a:pPr>
            <a:r>
              <a:rPr lang="en-US" sz="1400" dirty="0"/>
              <a:t>CSS3 (Modern Vanilla CSS &amp; CSS Modules)</a:t>
            </a:r>
          </a:p>
          <a:p>
            <a:pPr marL="342900" indent="-342900">
              <a:buAutoNum type="arabicPeriod"/>
            </a:pPr>
            <a:r>
              <a:rPr lang="en-US" sz="1400" dirty="0"/>
              <a:t>HTML5 &amp; SVG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977599-CB95-81C2-07CF-5B52F43E6207}"/>
              </a:ext>
            </a:extLst>
          </p:cNvPr>
          <p:cNvSpPr txBox="1"/>
          <p:nvPr/>
        </p:nvSpPr>
        <p:spPr>
          <a:xfrm>
            <a:off x="9980971" y="5052254"/>
            <a:ext cx="1847182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0B2E59"/>
                </a:solidFill>
              </a:rPr>
              <a:t>Layer</a:t>
            </a:r>
          </a:p>
          <a:p>
            <a:r>
              <a:rPr lang="en-US" sz="1400" dirty="0"/>
              <a:t>Backend</a:t>
            </a:r>
          </a:p>
          <a:p>
            <a:r>
              <a:rPr lang="en-US" sz="1400" dirty="0"/>
              <a:t>Frontend &amp; Simulation</a:t>
            </a:r>
          </a:p>
          <a:p>
            <a:r>
              <a:rPr lang="en-US" sz="1400" dirty="0"/>
              <a:t>Styling &amp; UI</a:t>
            </a:r>
          </a:p>
          <a:p>
            <a:r>
              <a:rPr lang="en-US" sz="1400" dirty="0"/>
              <a:t>Presentation</a:t>
            </a:r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4E715F19-1A81-2CCF-11DD-42CE328C563B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856317" y="3208166"/>
            <a:ext cx="661561" cy="661561"/>
          </a:xfrm>
          <a:prstGeom prst="rect">
            <a:avLst/>
          </a:prstGeom>
        </p:spPr>
      </p:pic>
      <p:pic>
        <p:nvPicPr>
          <p:cNvPr id="97" name="Picture 96" descr="Random Forests | What is Random Forest? | RF">
            <a:extLst>
              <a:ext uri="{FF2B5EF4-FFF2-40B4-BE49-F238E27FC236}">
                <a16:creationId xmlns:a16="http://schemas.microsoft.com/office/drawing/2014/main" id="{5B4FFADA-BEB4-A994-3E68-1759B7DED711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780195" y="3009459"/>
            <a:ext cx="518317" cy="27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167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70"/>
          <p:cNvSpPr/>
          <p:nvPr/>
        </p:nvSpPr>
        <p:spPr>
          <a:xfrm>
            <a:off x="6126480" y="1024128"/>
            <a:ext cx="2761488" cy="4553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47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9" name="Rectangle 78"/>
          <p:cNvSpPr/>
          <p:nvPr/>
        </p:nvSpPr>
        <p:spPr>
          <a:xfrm>
            <a:off x="7516367" y="1975104"/>
            <a:ext cx="7315" cy="3401568"/>
          </a:xfrm>
          <a:prstGeom prst="rect">
            <a:avLst/>
          </a:prstGeom>
          <a:solidFill>
            <a:srgbClr val="F47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97480" y="91440"/>
            <a:ext cx="7543800" cy="4389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3000" b="1">
                <a:solidFill>
                  <a:srgbClr val="0D315F"/>
                </a:solidFill>
                <a:latin typeface="Georgia"/>
              </a:rPr>
              <a:t>FEASIBILITY AND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1568" y="530352"/>
            <a:ext cx="6263640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187ED1"/>
                </a:solidFill>
                <a:latin typeface="Aptos"/>
              </a:rPr>
              <a:t>Built   •   Validated   •   Low-Risk   •   Scalable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" y="1243584"/>
            <a:ext cx="2907792" cy="43342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E9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" y="1223908"/>
            <a:ext cx="2907792" cy="458587"/>
          </a:xfrm>
          <a:prstGeom prst="roundRect">
            <a:avLst/>
          </a:prstGeom>
          <a:solidFill>
            <a:srgbClr val="0E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24480" y="1256110"/>
            <a:ext cx="392288" cy="3922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1650" y="1261433"/>
            <a:ext cx="237948" cy="3816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 dirty="0">
                <a:solidFill>
                  <a:srgbClr val="0E9E57"/>
                </a:solidFill>
                <a:latin typeface="Segoe UI Symbo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19" y="1209901"/>
            <a:ext cx="2152962" cy="458587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PROVEN FOUNDATION</a:t>
            </a:r>
            <a:endParaRPr lang="en-US" sz="1400" b="1" dirty="0">
              <a:solidFill>
                <a:srgbClr val="FFFFFF"/>
              </a:solidFill>
              <a:latin typeface="Aptos"/>
            </a:endParaRPr>
          </a:p>
          <a:p>
            <a:r>
              <a:rPr lang="en-US" sz="1100" dirty="0">
                <a:solidFill>
                  <a:srgbClr val="FFFFFF"/>
                </a:solidFill>
                <a:latin typeface="Aptos"/>
              </a:rPr>
              <a:t>Already built — not just a proposal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1755647"/>
            <a:ext cx="2633472" cy="868680"/>
          </a:xfrm>
          <a:prstGeom prst="roundRect">
            <a:avLst/>
          </a:prstGeom>
          <a:solidFill>
            <a:srgbClr val="E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8670" y="1827168"/>
            <a:ext cx="2382191" cy="75097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r>
              <a:rPr lang="en-US" sz="1100" b="1" dirty="0">
                <a:solidFill>
                  <a:srgbClr val="0D315F"/>
                </a:solidFill>
                <a:latin typeface="Aptos"/>
              </a:rPr>
              <a:t>Working end-to-end prototype</a:t>
            </a:r>
            <a:endParaRPr lang="en-US" sz="1100" b="0" dirty="0">
              <a:solidFill>
                <a:srgbClr val="0D315F"/>
              </a:solidFill>
              <a:latin typeface="Aptos"/>
            </a:endParaRPr>
          </a:p>
          <a:p>
            <a:pPr algn="l"/>
            <a:r>
              <a:rPr sz="1100" b="0" dirty="0">
                <a:solidFill>
                  <a:srgbClr val="0D315F"/>
                </a:solidFill>
                <a:latin typeface="Aptos"/>
              </a:rPr>
              <a:t>• FastAPI backend + trained ML model</a:t>
            </a:r>
            <a:endParaRPr lang="en-US" sz="1100" b="0" dirty="0">
              <a:solidFill>
                <a:srgbClr val="0D315F"/>
              </a:solidFill>
              <a:latin typeface="Aptos"/>
            </a:endParaRPr>
          </a:p>
          <a:p>
            <a:pPr algn="l"/>
            <a:r>
              <a:rPr sz="1100" b="0" dirty="0">
                <a:solidFill>
                  <a:srgbClr val="0D315F"/>
                </a:solidFill>
                <a:latin typeface="Aptos"/>
              </a:rPr>
              <a:t>+</a:t>
            </a:r>
            <a:r>
              <a:rPr lang="en-US" sz="11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100" b="0" dirty="0">
                <a:solidFill>
                  <a:srgbClr val="0D315F"/>
                </a:solidFill>
                <a:latin typeface="Aptos"/>
              </a:rPr>
              <a:t>React frontend already generate</a:t>
            </a:r>
            <a:endParaRPr lang="en-US" sz="1100" b="0" dirty="0">
              <a:solidFill>
                <a:srgbClr val="0D315F"/>
              </a:solidFill>
              <a:latin typeface="Aptos"/>
            </a:endParaRPr>
          </a:p>
          <a:p>
            <a:pPr algn="l"/>
            <a:r>
              <a:rPr sz="1100" b="0" dirty="0">
                <a:solidFill>
                  <a:srgbClr val="0D315F"/>
                </a:solidFill>
                <a:latin typeface="Aptos"/>
              </a:rPr>
              <a:t>ETA predictions.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" y="2702454"/>
            <a:ext cx="2633472" cy="868680"/>
          </a:xfrm>
          <a:prstGeom prst="round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8670" y="2773975"/>
            <a:ext cx="2559603" cy="75097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 lang="en-US" sz="1100" b="1" dirty="0">
                <a:solidFill>
                  <a:srgbClr val="0D315F"/>
                </a:solidFill>
                <a:latin typeface="Aptos"/>
              </a:rPr>
              <a:t>774,291+ real railway records</a:t>
            </a:r>
          </a:p>
          <a:p>
            <a:pPr algn="l"/>
            <a:r>
              <a:rPr sz="1100" b="0" dirty="0">
                <a:solidFill>
                  <a:srgbClr val="0D315F"/>
                </a:solidFill>
                <a:latin typeface="Aptos"/>
              </a:rPr>
              <a:t>• Historical schedule, delay and</a:t>
            </a:r>
            <a:endParaRPr lang="en-US" sz="1100" dirty="0">
              <a:solidFill>
                <a:srgbClr val="0D315F"/>
              </a:solidFill>
              <a:latin typeface="Aptos"/>
            </a:endParaRPr>
          </a:p>
          <a:p>
            <a:pPr algn="l"/>
            <a:r>
              <a:rPr sz="1100" b="0" dirty="0">
                <a:solidFill>
                  <a:srgbClr val="0D315F"/>
                </a:solidFill>
                <a:latin typeface="Aptos"/>
              </a:rPr>
              <a:t>train-priority data used for</a:t>
            </a:r>
            <a:r>
              <a:rPr lang="en-US" sz="11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100" b="0" dirty="0">
                <a:solidFill>
                  <a:srgbClr val="0D315F"/>
                </a:solidFill>
                <a:latin typeface="Aptos"/>
              </a:rPr>
              <a:t>model</a:t>
            </a:r>
            <a:r>
              <a:rPr lang="en-US" sz="11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100" b="0" dirty="0">
                <a:solidFill>
                  <a:srgbClr val="0D315F"/>
                </a:solidFill>
                <a:latin typeface="Aptos"/>
              </a:rPr>
              <a:t>development.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" y="3650750"/>
            <a:ext cx="2633472" cy="868680"/>
          </a:xfrm>
          <a:prstGeom prst="roundRect">
            <a:avLst/>
          </a:prstGeom>
          <a:solidFill>
            <a:srgbClr val="F1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07630" y="3666339"/>
            <a:ext cx="1603131" cy="24314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100" b="1" dirty="0">
                <a:solidFill>
                  <a:srgbClr val="0D315F"/>
                </a:solidFill>
                <a:latin typeface="Aptos"/>
              </a:rPr>
              <a:t>Measured improvement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112" y="3961646"/>
            <a:ext cx="82296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6400" y="3979934"/>
            <a:ext cx="786384" cy="2103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0D315F"/>
                </a:solidFill>
                <a:latin typeface="Aptos"/>
              </a:rPr>
              <a:t>33.24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072" y="3961646"/>
            <a:ext cx="292608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D315F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35392" y="3961646"/>
            <a:ext cx="658368" cy="274320"/>
          </a:xfrm>
          <a:prstGeom prst="roundRect">
            <a:avLst/>
          </a:prstGeom>
          <a:solidFill>
            <a:srgbClr val="E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444536" y="3979934"/>
            <a:ext cx="640080" cy="210312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0D315F"/>
                </a:solidFill>
                <a:latin typeface="Aptos"/>
              </a:rPr>
              <a:t>8.86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7630" y="4242410"/>
            <a:ext cx="1904496" cy="24314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100" b="0">
                <a:solidFill>
                  <a:srgbClr val="0D315F"/>
                </a:solidFill>
                <a:latin typeface="Aptos"/>
              </a:rPr>
              <a:t>ETA error with the ML pipeline.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8600" y="4599432"/>
            <a:ext cx="2633472" cy="835406"/>
          </a:xfrm>
          <a:prstGeom prst="roundRect">
            <a:avLst/>
          </a:prstGeom>
          <a:solidFill>
            <a:srgbClr val="E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8670" y="4626280"/>
            <a:ext cx="2494590" cy="75097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 lang="en-US" sz="1100" b="1" dirty="0">
                <a:solidFill>
                  <a:srgbClr val="0D315F"/>
                </a:solidFill>
                <a:latin typeface="Aptos"/>
              </a:rPr>
              <a:t>Complete technical specification</a:t>
            </a:r>
          </a:p>
          <a:p>
            <a:pPr algn="l"/>
            <a:r>
              <a:rPr sz="1100" b="0" dirty="0">
                <a:solidFill>
                  <a:srgbClr val="0D315F"/>
                </a:solidFill>
                <a:latin typeface="Aptos"/>
              </a:rPr>
              <a:t>11 function-level documents defin</a:t>
            </a:r>
            <a:r>
              <a:rPr lang="en-US" sz="1100" b="0" dirty="0">
                <a:solidFill>
                  <a:srgbClr val="0D315F"/>
                </a:solidFill>
                <a:latin typeface="Aptos"/>
              </a:rPr>
              <a:t>e </a:t>
            </a:r>
            <a:r>
              <a:rPr sz="1100" b="0" dirty="0">
                <a:solidFill>
                  <a:srgbClr val="0D315F"/>
                </a:solidFill>
                <a:latin typeface="Aptos"/>
              </a:rPr>
              <a:t>the</a:t>
            </a:r>
            <a:r>
              <a:rPr lang="en-US" sz="11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100" b="0" dirty="0">
                <a:solidFill>
                  <a:srgbClr val="0D315F"/>
                </a:solidFill>
                <a:latin typeface="Aptos"/>
              </a:rPr>
              <a:t>data</a:t>
            </a:r>
            <a:r>
              <a:rPr lang="en-US" sz="11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100" b="0" dirty="0">
                <a:solidFill>
                  <a:srgbClr val="0D315F"/>
                </a:solidFill>
                <a:latin typeface="Aptos"/>
              </a:rPr>
              <a:t>flow, processing logic and implementation.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90672" y="1243584"/>
            <a:ext cx="2944368" cy="43342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87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090672" y="1223908"/>
            <a:ext cx="2944368" cy="458588"/>
          </a:xfrm>
          <a:prstGeom prst="roundRect">
            <a:avLst/>
          </a:prstGeom>
          <a:solidFill>
            <a:srgbClr val="187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3177331" y="1256110"/>
            <a:ext cx="392288" cy="3922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43756" y="1261433"/>
            <a:ext cx="259438" cy="3816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 dirty="0">
                <a:solidFill>
                  <a:srgbClr val="187ED1"/>
                </a:solidFill>
                <a:latin typeface="Segoe UI Symbol"/>
              </a:rPr>
              <a:t>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38651" y="1209902"/>
            <a:ext cx="2396169" cy="458587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LOW IMPLEMENTATION RISK</a:t>
            </a:r>
            <a:endParaRPr lang="en-US" sz="1400" b="1" dirty="0">
              <a:solidFill>
                <a:srgbClr val="FFFFFF"/>
              </a:solidFill>
              <a:latin typeface="Aptos"/>
            </a:endParaRPr>
          </a:p>
          <a:p>
            <a:r>
              <a:rPr lang="en-US" sz="1100" dirty="0">
                <a:solidFill>
                  <a:srgbClr val="FFFFFF"/>
                </a:solidFill>
                <a:latin typeface="Aptos"/>
              </a:rPr>
              <a:t>Proven tools, simple deployment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27832" y="1764792"/>
            <a:ext cx="2670048" cy="851359"/>
          </a:xfrm>
          <a:prstGeom prst="round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3227832" y="2699556"/>
            <a:ext cx="2670048" cy="859536"/>
          </a:xfrm>
          <a:prstGeom prst="round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3227832" y="3646326"/>
            <a:ext cx="2670048" cy="859536"/>
          </a:xfrm>
          <a:prstGeom prst="round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3227832" y="4595020"/>
            <a:ext cx="2670048" cy="717643"/>
          </a:xfrm>
          <a:prstGeom prst="roundRect">
            <a:avLst/>
          </a:prstGeom>
          <a:solidFill>
            <a:srgbClr val="F1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355713" y="1885423"/>
            <a:ext cx="2356543" cy="58169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r>
              <a:rPr lang="en-US" sz="1100" b="1" dirty="0">
                <a:solidFill>
                  <a:srgbClr val="0D315F"/>
                </a:solidFill>
                <a:latin typeface="Aptos"/>
              </a:rPr>
              <a:t>Mature ML</a:t>
            </a:r>
            <a:r>
              <a:rPr sz="1100" b="0" dirty="0">
                <a:solidFill>
                  <a:srgbClr val="0D315F"/>
                </a:solidFill>
                <a:latin typeface="Aptos"/>
              </a:rPr>
              <a:t>
• Established models
• Fast training &amp; interpretable outputs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55713" y="2735548"/>
            <a:ext cx="1926938" cy="75097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r>
              <a:rPr lang="en-US" sz="1100" b="1" dirty="0">
                <a:solidFill>
                  <a:srgbClr val="0D315F"/>
                </a:solidFill>
                <a:latin typeface="Aptos"/>
              </a:rPr>
              <a:t>Standard Technology</a:t>
            </a:r>
          </a:p>
          <a:p>
            <a:pPr algn="l"/>
            <a:r>
              <a:rPr sz="1100" b="0" dirty="0">
                <a:solidFill>
                  <a:srgbClr val="0D315F"/>
                </a:solidFill>
                <a:latin typeface="Aptos"/>
              </a:rPr>
              <a:t>Python • FastAPI • React
• Modern ML ecosystem
• No specialized infrastructure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55713" y="3686735"/>
            <a:ext cx="2422266" cy="75097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r>
              <a:rPr lang="en-US" sz="1100" b="1" dirty="0">
                <a:solidFill>
                  <a:srgbClr val="0D315F"/>
                </a:solidFill>
                <a:latin typeface="Aptos"/>
              </a:rPr>
              <a:t>Hardware-Independent</a:t>
            </a:r>
          </a:p>
          <a:p>
            <a:pPr algn="l"/>
            <a:r>
              <a:rPr sz="1100" b="0" dirty="0">
                <a:solidFill>
                  <a:srgbClr val="0D315F"/>
                </a:solidFill>
                <a:latin typeface="Aptos"/>
              </a:rPr>
              <a:t>• Software/analytics layer over existing
  railway </a:t>
            </a:r>
            <a:r>
              <a:rPr lang="en-US" sz="1100" b="0" dirty="0">
                <a:solidFill>
                  <a:srgbClr val="0D315F"/>
                </a:solidFill>
                <a:latin typeface="Aptos"/>
              </a:rPr>
              <a:t>infrastructure</a:t>
            </a:r>
            <a:r>
              <a:rPr sz="1100" b="0" dirty="0">
                <a:solidFill>
                  <a:srgbClr val="0D315F"/>
                </a:solidFill>
                <a:latin typeface="Aptos"/>
              </a:rPr>
              <a:t>
• No new trackside sensors required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55713" y="4651644"/>
            <a:ext cx="2547016" cy="58169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 lang="en-US" sz="1100" b="1" dirty="0">
                <a:solidFill>
                  <a:srgbClr val="0D315F"/>
                </a:solidFill>
                <a:latin typeface="Aptos"/>
              </a:rPr>
              <a:t>Low-Cost Prototype Deployment</a:t>
            </a:r>
          </a:p>
          <a:p>
            <a:pPr algn="l"/>
            <a:r>
              <a:rPr sz="1100" b="0" dirty="0">
                <a:solidFill>
                  <a:srgbClr val="0D315F"/>
                </a:solidFill>
                <a:latin typeface="Aptos"/>
              </a:rPr>
              <a:t>• Free-tier cloud hosting (Render/Railway,</a:t>
            </a:r>
            <a:r>
              <a:rPr lang="en-US" sz="1100" b="0" dirty="0">
                <a:solidFill>
                  <a:srgbClr val="0D315F"/>
                </a:solidFill>
                <a:latin typeface="Aptos"/>
              </a:rPr>
              <a:t> Vercel</a:t>
            </a:r>
            <a:r>
              <a:rPr sz="1100" b="0" dirty="0">
                <a:solidFill>
                  <a:srgbClr val="0D315F"/>
                </a:solidFill>
                <a:latin typeface="Aptos"/>
              </a:rPr>
              <a:t>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26480" y="1024128"/>
            <a:ext cx="2761488" cy="658368"/>
          </a:xfrm>
          <a:prstGeom prst="roundRect">
            <a:avLst/>
          </a:prstGeom>
          <a:solidFill>
            <a:srgbClr val="F47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6236208" y="1115568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381861" y="1144202"/>
            <a:ext cx="147605" cy="38164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2000" b="1" dirty="0">
                <a:solidFill>
                  <a:srgbClr val="F47A13"/>
                </a:solidFill>
                <a:latin typeface="Segoe UI Symbol"/>
              </a:rPr>
              <a:t>!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66560" y="1097280"/>
            <a:ext cx="2011680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3. RISKS → MITIGATION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66560" y="1353312"/>
            <a:ext cx="2011680" cy="1828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Known risks, clear solutions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82304" y="1764792"/>
            <a:ext cx="2642615" cy="345352"/>
          </a:xfrm>
          <a:prstGeom prst="rect">
            <a:avLst/>
          </a:prstGeom>
          <a:solidFill>
            <a:srgbClr val="FFF1E6"/>
          </a:solidFill>
          <a:ln w="10160">
            <a:solidFill>
              <a:srgbClr val="F47A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6217920" y="2825496"/>
            <a:ext cx="2578608" cy="7315"/>
          </a:xfrm>
          <a:prstGeom prst="rect">
            <a:avLst/>
          </a:prstGeom>
          <a:solidFill>
            <a:srgbClr val="F47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217920" y="3502152"/>
            <a:ext cx="2578608" cy="7315"/>
          </a:xfrm>
          <a:prstGeom prst="rect">
            <a:avLst/>
          </a:prstGeom>
          <a:solidFill>
            <a:srgbClr val="F47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217920" y="4169663"/>
            <a:ext cx="2578608" cy="7315"/>
          </a:xfrm>
          <a:prstGeom prst="rect">
            <a:avLst/>
          </a:prstGeom>
          <a:solidFill>
            <a:srgbClr val="F47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6217920" y="4837176"/>
            <a:ext cx="2578608" cy="7315"/>
          </a:xfrm>
          <a:prstGeom prst="rect">
            <a:avLst/>
          </a:prstGeom>
          <a:solidFill>
            <a:srgbClr val="F47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309359" y="1819656"/>
            <a:ext cx="1115568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000" b="1">
                <a:solidFill>
                  <a:srgbClr val="0D315F"/>
                </a:solidFill>
                <a:latin typeface="Aptos"/>
              </a:rPr>
              <a:t>Key Risk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26095" y="1819656"/>
            <a:ext cx="1234440" cy="2011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950" b="1" dirty="0">
                <a:solidFill>
                  <a:srgbClr val="0D315F"/>
                </a:solidFill>
                <a:latin typeface="Aptos"/>
              </a:rPr>
              <a:t>Mitigation Strategy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22725" y="2182826"/>
            <a:ext cx="1168177" cy="53553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dirty="0">
                <a:solidFill>
                  <a:srgbClr val="0D315F"/>
                </a:solidFill>
                <a:latin typeface="Aptos"/>
              </a:rPr>
              <a:t>Public live-data
rate limits / TOS
constraints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16368" y="2160746"/>
            <a:ext cx="1336854" cy="6894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dirty="0">
                <a:solidFill>
                  <a:srgbClr val="0D315F"/>
                </a:solidFill>
                <a:latin typeface="Aptos"/>
              </a:rPr>
              <a:t>Respectful single-polle</a:t>
            </a:r>
            <a:r>
              <a:rPr lang="en-US" sz="1000" b="0" dirty="0">
                <a:solidFill>
                  <a:srgbClr val="0D315F"/>
                </a:solidFill>
                <a:latin typeface="Aptos"/>
              </a:rPr>
              <a:t>r </a:t>
            </a:r>
            <a:r>
              <a:rPr sz="1000" b="0" dirty="0">
                <a:solidFill>
                  <a:srgbClr val="0D315F"/>
                </a:solidFill>
                <a:latin typeface="Aptos"/>
              </a:rPr>
              <a:t>architecture + caching +</a:t>
            </a:r>
            <a:r>
              <a:rPr lang="en-US" sz="10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000" b="0" dirty="0">
                <a:solidFill>
                  <a:srgbClr val="0D315F"/>
                </a:solidFill>
                <a:latin typeface="Aptos"/>
              </a:rPr>
              <a:t>automatic fallback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23655" y="2920927"/>
            <a:ext cx="1179957" cy="53553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dirty="0">
                <a:solidFill>
                  <a:srgbClr val="0D315F"/>
                </a:solidFill>
                <a:latin typeface="Aptos"/>
              </a:rPr>
              <a:t>Precedenc</a:t>
            </a:r>
            <a:r>
              <a:rPr lang="en-US" sz="1000" b="0" dirty="0">
                <a:solidFill>
                  <a:srgbClr val="0D315F"/>
                </a:solidFill>
                <a:latin typeface="Aptos"/>
              </a:rPr>
              <a:t>e in</a:t>
            </a:r>
            <a:r>
              <a:rPr sz="1000" b="0" dirty="0">
                <a:solidFill>
                  <a:srgbClr val="0D315F"/>
                </a:solidFill>
                <a:latin typeface="Aptos"/>
              </a:rPr>
              <a:t>ference</a:t>
            </a:r>
            <a:r>
              <a:rPr lang="en-US" sz="10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000" b="0" dirty="0">
                <a:solidFill>
                  <a:srgbClr val="0D315F"/>
                </a:solidFill>
                <a:latin typeface="Aptos"/>
              </a:rPr>
              <a:t>may</a:t>
            </a:r>
            <a:r>
              <a:rPr lang="en-US" sz="1000" dirty="0">
                <a:solidFill>
                  <a:srgbClr val="0D315F"/>
                </a:solidFill>
                <a:latin typeface="Aptos"/>
              </a:rPr>
              <a:t> </a:t>
            </a:r>
            <a:r>
              <a:rPr sz="1000" b="0" dirty="0">
                <a:solidFill>
                  <a:srgbClr val="0D315F"/>
                </a:solidFill>
                <a:latin typeface="Aptos"/>
              </a:rPr>
              <a:t>be</a:t>
            </a:r>
            <a:r>
              <a:rPr lang="en-US" sz="1000" dirty="0">
                <a:solidFill>
                  <a:srgbClr val="0D315F"/>
                </a:solidFill>
                <a:latin typeface="Aptos"/>
              </a:rPr>
              <a:t> </a:t>
            </a:r>
            <a:r>
              <a:rPr sz="1000" b="0" dirty="0">
                <a:solidFill>
                  <a:srgbClr val="0D315F"/>
                </a:solidFill>
                <a:latin typeface="Aptos"/>
              </a:rPr>
              <a:t>noisy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23361" y="2905201"/>
            <a:ext cx="1468759" cy="53553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dirty="0">
                <a:solidFill>
                  <a:srgbClr val="0D315F"/>
                </a:solidFill>
                <a:latin typeface="Aptos"/>
              </a:rPr>
              <a:t>Repetition</a:t>
            </a:r>
            <a:r>
              <a:rPr lang="en-US" sz="1000" b="0" dirty="0">
                <a:solidFill>
                  <a:srgbClr val="0D315F"/>
                </a:solidFill>
                <a:latin typeface="Aptos"/>
              </a:rPr>
              <a:t>-</a:t>
            </a:r>
            <a:r>
              <a:rPr sz="1000" b="0" dirty="0">
                <a:solidFill>
                  <a:srgbClr val="0D315F"/>
                </a:solidFill>
                <a:latin typeface="Aptos"/>
              </a:rPr>
              <a:t>confidence</a:t>
            </a:r>
            <a:r>
              <a:rPr lang="en-US" sz="10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000" b="0" dirty="0">
                <a:solidFill>
                  <a:srgbClr val="0D315F"/>
                </a:solidFill>
                <a:latin typeface="Aptos"/>
              </a:rPr>
              <a:t>gating + independent</a:t>
            </a:r>
            <a:r>
              <a:rPr lang="en-US" sz="10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000" b="0" dirty="0">
                <a:solidFill>
                  <a:srgbClr val="0D315F"/>
                </a:solidFill>
                <a:latin typeface="Aptos"/>
              </a:rPr>
              <a:t>validation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24114" y="3581858"/>
            <a:ext cx="1185781" cy="53553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dirty="0">
                <a:solidFill>
                  <a:srgbClr val="0D315F"/>
                </a:solidFill>
                <a:latin typeface="Aptos"/>
              </a:rPr>
              <a:t>No official CRIS/ISRO</a:t>
            </a:r>
            <a:r>
              <a:rPr lang="en-US" sz="10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000" b="0" dirty="0">
                <a:solidFill>
                  <a:srgbClr val="0D315F"/>
                </a:solidFill>
                <a:latin typeface="Aptos"/>
              </a:rPr>
              <a:t>live feed yet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18389" y="3581857"/>
            <a:ext cx="1398271" cy="53553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dirty="0">
                <a:solidFill>
                  <a:srgbClr val="0D315F"/>
                </a:solidFill>
                <a:latin typeface="Aptos"/>
              </a:rPr>
              <a:t>Modular swappable
data-source layer</a:t>
            </a:r>
            <a:r>
              <a:rPr lang="en-US" sz="10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000" b="0" dirty="0">
                <a:solidFill>
                  <a:srgbClr val="0D315F"/>
                </a:solidFill>
                <a:latin typeface="Aptos"/>
              </a:rPr>
              <a:t>ready</a:t>
            </a:r>
            <a:r>
              <a:rPr lang="en-US" sz="1000" b="0" dirty="0">
                <a:solidFill>
                  <a:srgbClr val="0D315F"/>
                </a:solidFill>
                <a:latin typeface="Aptos"/>
              </a:rPr>
              <a:t> &amp;</a:t>
            </a:r>
            <a:r>
              <a:rPr lang="en-US" sz="1000" dirty="0">
                <a:solidFill>
                  <a:srgbClr val="0D315F"/>
                </a:solidFill>
                <a:latin typeface="Aptos"/>
              </a:rPr>
              <a:t> </a:t>
            </a:r>
            <a:r>
              <a:rPr sz="1000" b="0" dirty="0">
                <a:solidFill>
                  <a:srgbClr val="0D315F"/>
                </a:solidFill>
                <a:latin typeface="Aptos"/>
              </a:rPr>
              <a:t>integrat</a:t>
            </a:r>
            <a:r>
              <a:rPr lang="en-US" sz="1000" b="0" dirty="0">
                <a:solidFill>
                  <a:srgbClr val="0D315F"/>
                </a:solidFill>
                <a:latin typeface="Aptos"/>
              </a:rPr>
              <a:t>ed</a:t>
            </a:r>
            <a:endParaRPr sz="1000" b="0" dirty="0">
              <a:solidFill>
                <a:srgbClr val="0D315F"/>
              </a:solidFill>
              <a:latin typeface="Aptos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6323655" y="4235654"/>
            <a:ext cx="1179958" cy="53553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dirty="0">
                <a:solidFill>
                  <a:srgbClr val="0D315F"/>
                </a:solidFill>
                <a:latin typeface="Aptos"/>
              </a:rPr>
              <a:t>Data gaps /
low-confidence
predictions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523683" y="4249369"/>
            <a:ext cx="1329538" cy="53553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dirty="0">
                <a:solidFill>
                  <a:srgbClr val="0D315F"/>
                </a:solidFill>
                <a:latin typeface="Aptos"/>
              </a:rPr>
              <a:t>Confidence scoring</a:t>
            </a:r>
            <a:r>
              <a:rPr lang="en-US" sz="10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000" b="0" dirty="0">
                <a:solidFill>
                  <a:srgbClr val="0D315F"/>
                </a:solidFill>
                <a:latin typeface="Aptos"/>
              </a:rPr>
              <a:t>+</a:t>
            </a:r>
            <a:r>
              <a:rPr lang="en-US" sz="10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000" b="0" dirty="0">
                <a:solidFill>
                  <a:srgbClr val="0D315F"/>
                </a:solidFill>
                <a:latin typeface="Aptos"/>
              </a:rPr>
              <a:t>deterministic</a:t>
            </a:r>
            <a:r>
              <a:rPr lang="en-US" sz="10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000" b="0" dirty="0">
                <a:solidFill>
                  <a:srgbClr val="0D315F"/>
                </a:solidFill>
                <a:latin typeface="Aptos"/>
              </a:rPr>
              <a:t>baseline</a:t>
            </a:r>
            <a:r>
              <a:rPr lang="en-US" sz="1000" dirty="0">
                <a:solidFill>
                  <a:srgbClr val="0D315F"/>
                </a:solidFill>
                <a:latin typeface="Aptos"/>
              </a:rPr>
              <a:t> </a:t>
            </a:r>
            <a:r>
              <a:rPr sz="1000" b="0" dirty="0">
                <a:solidFill>
                  <a:srgbClr val="0D315F"/>
                </a:solidFill>
                <a:latin typeface="Aptos"/>
              </a:rPr>
              <a:t>fallback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309358" y="4826222"/>
            <a:ext cx="998619" cy="6894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dirty="0">
                <a:solidFill>
                  <a:srgbClr val="0D315F"/>
                </a:solidFill>
                <a:latin typeface="Aptos"/>
              </a:rPr>
              <a:t>Live collection &amp;
cloud deployment
pending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518839" y="4916882"/>
            <a:ext cx="1392411" cy="53553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dirty="0">
                <a:solidFill>
                  <a:srgbClr val="0D315F"/>
                </a:solidFill>
                <a:latin typeface="Aptos"/>
              </a:rPr>
              <a:t>Already architected</a:t>
            </a:r>
            <a:r>
              <a:rPr lang="en-US" sz="10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000" b="0" dirty="0">
                <a:solidFill>
                  <a:srgbClr val="0D315F"/>
                </a:solidFill>
                <a:latin typeface="Aptos"/>
              </a:rPr>
              <a:t>and scoped; does not</a:t>
            </a:r>
            <a:r>
              <a:rPr lang="en-US" sz="10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000" b="0" dirty="0">
                <a:solidFill>
                  <a:srgbClr val="0D315F"/>
                </a:solidFill>
                <a:latin typeface="Aptos"/>
              </a:rPr>
              <a:t>block current</a:t>
            </a:r>
            <a:r>
              <a:rPr lang="en-US" sz="10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000" b="0" dirty="0">
                <a:solidFill>
                  <a:srgbClr val="0D315F"/>
                </a:solidFill>
                <a:latin typeface="Aptos"/>
              </a:rPr>
              <a:t>prototype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979408" y="1024128"/>
            <a:ext cx="3118104" cy="4553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24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8979408" y="1024128"/>
            <a:ext cx="3118104" cy="658368"/>
          </a:xfrm>
          <a:prstGeom prst="roundRect">
            <a:avLst/>
          </a:prstGeom>
          <a:solidFill>
            <a:srgbClr val="624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9089136" y="1115568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143418" y="1144202"/>
            <a:ext cx="330347" cy="38164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2000" b="1" dirty="0">
                <a:solidFill>
                  <a:srgbClr val="6240C5"/>
                </a:solidFill>
                <a:latin typeface="Segoe UI Symbol"/>
              </a:rPr>
              <a:t>➤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619488" y="1097280"/>
            <a:ext cx="2368296" cy="22860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4. PHASED VIABILITY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619488" y="1353312"/>
            <a:ext cx="2368296" cy="1828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Deliver value now, scale later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080906" y="1719852"/>
            <a:ext cx="1378916" cy="347472"/>
          </a:xfrm>
          <a:prstGeom prst="roundRect">
            <a:avLst/>
          </a:prstGeom>
          <a:solidFill>
            <a:srgbClr val="187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9163562" y="1689050"/>
            <a:ext cx="1213601" cy="38164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PHASE 1</a:t>
            </a:r>
            <a:endParaRPr lang="en-US" sz="1000" b="1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BUILT &amp; VALIDATED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588752" y="1719852"/>
            <a:ext cx="1414272" cy="347472"/>
          </a:xfrm>
          <a:prstGeom prst="roundRect">
            <a:avLst/>
          </a:prstGeom>
          <a:solidFill>
            <a:srgbClr val="624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677525" y="1689050"/>
            <a:ext cx="1236726" cy="3816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PHASE 2</a:t>
            </a:r>
            <a:endParaRPr lang="en-US" sz="1000" b="1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sz="1000" b="1" dirty="0">
                <a:solidFill>
                  <a:srgbClr val="FFFFFF"/>
                </a:solidFill>
                <a:latin typeface="Aptos"/>
              </a:rPr>
              <a:t>SCALE &amp;</a:t>
            </a:r>
            <a:r>
              <a:rPr lang="en-US" sz="1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000" b="1" dirty="0">
                <a:solidFill>
                  <a:srgbClr val="FFFFFF"/>
                </a:solidFill>
                <a:latin typeface="Aptos"/>
              </a:rPr>
              <a:t>ENHANCE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9116568" y="2093976"/>
            <a:ext cx="1307592" cy="356616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187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189720" y="2112264"/>
            <a:ext cx="237744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87ED1"/>
                </a:solidFill>
                <a:latin typeface="Aptos"/>
              </a:rPr>
              <a:t>◉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387840" y="2135546"/>
            <a:ext cx="1123577" cy="2277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dirty="0">
                <a:solidFill>
                  <a:srgbClr val="0D315F"/>
                </a:solidFill>
                <a:latin typeface="Aptos"/>
              </a:rPr>
              <a:t>Historical Data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116568" y="2532888"/>
            <a:ext cx="1307592" cy="356616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187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9189720" y="2551176"/>
            <a:ext cx="237744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87ED1"/>
                </a:solidFill>
                <a:latin typeface="Aptos"/>
              </a:rPr>
              <a:t>✣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387841" y="2497514"/>
            <a:ext cx="978408" cy="3816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dirty="0">
                <a:solidFill>
                  <a:srgbClr val="0D315F"/>
                </a:solidFill>
                <a:latin typeface="Aptos"/>
              </a:rPr>
              <a:t>Baseline + ML Models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116568" y="2971800"/>
            <a:ext cx="1307592" cy="356616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187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189720" y="2990088"/>
            <a:ext cx="237744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87ED1"/>
                </a:solidFill>
                <a:latin typeface="Aptos"/>
              </a:rPr>
              <a:t>▣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387840" y="3013370"/>
            <a:ext cx="1246431" cy="2277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dirty="0">
                <a:solidFill>
                  <a:srgbClr val="0D315F"/>
                </a:solidFill>
                <a:latin typeface="Aptos"/>
              </a:rPr>
              <a:t>FastAPI Backend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9116568" y="3410712"/>
            <a:ext cx="1307592" cy="356616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187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189720" y="3429000"/>
            <a:ext cx="237744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87ED1"/>
                </a:solidFill>
                <a:latin typeface="Aptos"/>
              </a:rPr>
              <a:t>▤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387840" y="3452282"/>
            <a:ext cx="1131785" cy="2277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>
                <a:solidFill>
                  <a:srgbClr val="0D315F"/>
                </a:solidFill>
                <a:latin typeface="Aptos"/>
              </a:rPr>
              <a:t>ETA Dashboard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116568" y="3849624"/>
            <a:ext cx="1307592" cy="356616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187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9189720" y="3867911"/>
            <a:ext cx="237744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87ED1"/>
                </a:solidFill>
                <a:latin typeface="Aptos"/>
              </a:rPr>
              <a:t>◷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387840" y="3814250"/>
            <a:ext cx="978408" cy="3816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dirty="0">
                <a:solidFill>
                  <a:srgbClr val="0D315F"/>
                </a:solidFill>
                <a:latin typeface="Aptos"/>
              </a:rPr>
              <a:t>Live-Replay / What-If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9116568" y="4288536"/>
            <a:ext cx="1307592" cy="356616"/>
          </a:xfrm>
          <a:prstGeom prst="roundRect">
            <a:avLst/>
          </a:prstGeom>
          <a:solidFill>
            <a:srgbClr val="EAF4FF"/>
          </a:solidFill>
          <a:ln w="10160">
            <a:solidFill>
              <a:srgbClr val="187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9189720" y="4306824"/>
            <a:ext cx="237744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87ED1"/>
                </a:solidFill>
                <a:latin typeface="Aptos"/>
              </a:rPr>
              <a:t>⬡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387840" y="4330106"/>
            <a:ext cx="1221745" cy="2277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dirty="0">
                <a:solidFill>
                  <a:srgbClr val="0D315F"/>
                </a:solidFill>
                <a:latin typeface="Aptos"/>
              </a:rPr>
              <a:t>Fallback System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683496" y="2393864"/>
            <a:ext cx="182880" cy="1828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 dirty="0">
                <a:solidFill>
                  <a:srgbClr val="187ED1"/>
                </a:solidFill>
                <a:latin typeface="Aptos"/>
              </a:rPr>
              <a:t>↓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683496" y="2832776"/>
            <a:ext cx="182880" cy="1828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87ED1"/>
                </a:solidFill>
                <a:latin typeface="Aptos"/>
              </a:rPr>
              <a:t>↓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683496" y="3271688"/>
            <a:ext cx="182880" cy="1828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87ED1"/>
                </a:solidFill>
                <a:latin typeface="Aptos"/>
              </a:rPr>
              <a:t>↓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683496" y="3710599"/>
            <a:ext cx="182880" cy="1828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187ED1"/>
                </a:solidFill>
                <a:latin typeface="Aptos"/>
              </a:rPr>
              <a:t>↓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683496" y="4149512"/>
            <a:ext cx="182880" cy="1828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 dirty="0">
                <a:solidFill>
                  <a:srgbClr val="187ED1"/>
                </a:solidFill>
                <a:latin typeface="Aptos"/>
              </a:rPr>
              <a:t>↓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0643616" y="2093976"/>
            <a:ext cx="1316736" cy="356616"/>
          </a:xfrm>
          <a:prstGeom prst="roundRect">
            <a:avLst/>
          </a:prstGeom>
          <a:solidFill>
            <a:srgbClr val="F1ECFF"/>
          </a:solidFill>
          <a:ln w="10160">
            <a:solidFill>
              <a:srgbClr val="624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0716768" y="2081487"/>
            <a:ext cx="237744" cy="3816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 dirty="0">
                <a:solidFill>
                  <a:srgbClr val="6240C5"/>
                </a:solidFill>
                <a:latin typeface="Aptos"/>
              </a:rPr>
              <a:t>⌁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914888" y="2159929"/>
            <a:ext cx="716671" cy="2277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dirty="0">
                <a:solidFill>
                  <a:srgbClr val="0D315F"/>
                </a:solidFill>
                <a:latin typeface="Aptos"/>
              </a:rPr>
              <a:t>Live Data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0643616" y="2532888"/>
            <a:ext cx="1316736" cy="356616"/>
          </a:xfrm>
          <a:prstGeom prst="roundRect">
            <a:avLst/>
          </a:prstGeom>
          <a:solidFill>
            <a:srgbClr val="F1ECFF"/>
          </a:solidFill>
          <a:ln w="10160">
            <a:solidFill>
              <a:srgbClr val="624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0736991" y="2551176"/>
            <a:ext cx="197297" cy="3200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6240C5"/>
                </a:solidFill>
                <a:latin typeface="Aptos"/>
              </a:rPr>
              <a:t>↗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914888" y="2497514"/>
            <a:ext cx="1090811" cy="3816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dirty="0">
                <a:solidFill>
                  <a:srgbClr val="0D315F"/>
                </a:solidFill>
                <a:latin typeface="Aptos"/>
              </a:rPr>
              <a:t>Multi-Source
Reconciliation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0643616" y="2971800"/>
            <a:ext cx="1316736" cy="356616"/>
          </a:xfrm>
          <a:prstGeom prst="roundRect">
            <a:avLst/>
          </a:prstGeom>
          <a:solidFill>
            <a:srgbClr val="F1ECFF"/>
          </a:solidFill>
          <a:ln w="10160">
            <a:solidFill>
              <a:srgbClr val="624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10716768" y="3003828"/>
            <a:ext cx="237744" cy="29260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6240C5"/>
                </a:solidFill>
                <a:latin typeface="Aptos"/>
              </a:rPr>
              <a:t>⌘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914888" y="2960809"/>
            <a:ext cx="940048" cy="3816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>
                <a:solidFill>
                  <a:srgbClr val="0D315F"/>
                </a:solidFill>
                <a:latin typeface="Aptos"/>
              </a:rPr>
              <a:t>Precedence Inference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0643616" y="3410712"/>
            <a:ext cx="1316736" cy="356616"/>
          </a:xfrm>
          <a:prstGeom prst="roundRect">
            <a:avLst/>
          </a:prstGeom>
          <a:solidFill>
            <a:srgbClr val="F1ECFF"/>
          </a:solidFill>
          <a:ln w="10160">
            <a:solidFill>
              <a:srgbClr val="624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10712145" y="3429000"/>
            <a:ext cx="246991" cy="3200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6240C5"/>
                </a:solidFill>
                <a:latin typeface="Aptos"/>
              </a:rPr>
              <a:t>⚙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914889" y="3399721"/>
            <a:ext cx="886542" cy="3816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dirty="0">
                <a:solidFill>
                  <a:srgbClr val="0D315F"/>
                </a:solidFill>
                <a:latin typeface="Aptos"/>
              </a:rPr>
              <a:t>Model Enhancement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0643616" y="3849624"/>
            <a:ext cx="1316736" cy="356616"/>
          </a:xfrm>
          <a:prstGeom prst="roundRect">
            <a:avLst/>
          </a:prstGeom>
          <a:solidFill>
            <a:srgbClr val="F1ECFF"/>
          </a:solidFill>
          <a:ln w="10160">
            <a:solidFill>
              <a:srgbClr val="624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0709740" y="3867911"/>
            <a:ext cx="251800" cy="3200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6240C5"/>
                </a:solidFill>
                <a:latin typeface="Aptos"/>
              </a:rPr>
              <a:t>☁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14889" y="3814250"/>
            <a:ext cx="862800" cy="3816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dirty="0">
                <a:solidFill>
                  <a:srgbClr val="0D315F"/>
                </a:solidFill>
                <a:latin typeface="Aptos"/>
              </a:rPr>
              <a:t>Cloud Deployment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0643616" y="4288536"/>
            <a:ext cx="1316736" cy="356616"/>
          </a:xfrm>
          <a:prstGeom prst="roundRect">
            <a:avLst/>
          </a:prstGeom>
          <a:solidFill>
            <a:srgbClr val="F1ECFF"/>
          </a:solidFill>
          <a:ln w="10160">
            <a:solidFill>
              <a:srgbClr val="624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10744204" y="4277696"/>
            <a:ext cx="182872" cy="35086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b="1" dirty="0">
                <a:solidFill>
                  <a:srgbClr val="6240C5"/>
                </a:solidFill>
                <a:latin typeface="Aptos"/>
              </a:rPr>
              <a:t>⌖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914888" y="4348394"/>
            <a:ext cx="1123834" cy="2277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1" dirty="0">
                <a:solidFill>
                  <a:srgbClr val="0D315F"/>
                </a:solidFill>
                <a:latin typeface="Aptos"/>
              </a:rPr>
              <a:t>More Corridors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1219688" y="2393864"/>
            <a:ext cx="182880" cy="1828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6240C5"/>
                </a:solidFill>
                <a:latin typeface="Aptos"/>
              </a:rPr>
              <a:t>↓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219688" y="2832776"/>
            <a:ext cx="182880" cy="1828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6240C5"/>
                </a:solidFill>
                <a:latin typeface="Aptos"/>
              </a:rPr>
              <a:t>↓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1219688" y="3271688"/>
            <a:ext cx="182880" cy="1828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6240C5"/>
                </a:solidFill>
                <a:latin typeface="Aptos"/>
              </a:rPr>
              <a:t>↓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219688" y="3710599"/>
            <a:ext cx="182880" cy="1828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6240C5"/>
                </a:solidFill>
                <a:latin typeface="Aptos"/>
              </a:rPr>
              <a:t>↓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219688" y="4149512"/>
            <a:ext cx="182880" cy="1828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6240C5"/>
                </a:solidFill>
                <a:latin typeface="Aptos"/>
              </a:rPr>
              <a:t>↓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9116568" y="4695444"/>
            <a:ext cx="2843784" cy="676656"/>
          </a:xfrm>
          <a:prstGeom prst="roundRect">
            <a:avLst/>
          </a:prstGeom>
          <a:solidFill>
            <a:srgbClr val="F1ECFF"/>
          </a:solidFill>
          <a:ln w="10160">
            <a:solidFill>
              <a:srgbClr val="624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64" name="Oval 163"/>
          <p:cNvSpPr/>
          <p:nvPr/>
        </p:nvSpPr>
        <p:spPr>
          <a:xfrm>
            <a:off x="9208008" y="4814316"/>
            <a:ext cx="320040" cy="320040"/>
          </a:xfrm>
          <a:prstGeom prst="ellipse">
            <a:avLst/>
          </a:prstGeom>
          <a:solidFill>
            <a:srgbClr val="624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9208008" y="4805172"/>
            <a:ext cx="32004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Segoe UI Symbol"/>
              </a:rPr>
              <a:t>◎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592056" y="4664667"/>
            <a:ext cx="2322195" cy="75097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0" dirty="0">
                <a:solidFill>
                  <a:srgbClr val="0D315F"/>
                </a:solidFill>
                <a:latin typeface="Aptos"/>
              </a:rPr>
              <a:t>Avoids over-engineering before the</a:t>
            </a:r>
            <a:r>
              <a:rPr lang="en-US" sz="11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100" b="0" dirty="0">
                <a:solidFill>
                  <a:srgbClr val="0D315F"/>
                </a:solidFill>
                <a:latin typeface="Aptos"/>
              </a:rPr>
              <a:t>core system is proven.</a:t>
            </a:r>
            <a:r>
              <a:rPr lang="en-US" sz="11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100" b="0" dirty="0">
                <a:solidFill>
                  <a:srgbClr val="0D315F"/>
                </a:solidFill>
                <a:latin typeface="Aptos"/>
              </a:rPr>
              <a:t>Each Phase 2</a:t>
            </a:r>
            <a:r>
              <a:rPr lang="en-US" sz="11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100" b="0" dirty="0">
                <a:solidFill>
                  <a:srgbClr val="0D315F"/>
                </a:solidFill>
                <a:latin typeface="Aptos"/>
              </a:rPr>
              <a:t>item has</a:t>
            </a:r>
            <a:r>
              <a:rPr lang="en-US" sz="11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100" b="0" dirty="0">
                <a:solidFill>
                  <a:srgbClr val="0D315F"/>
                </a:solidFill>
                <a:latin typeface="Aptos"/>
              </a:rPr>
              <a:t>a clear trigger (e.g., after</a:t>
            </a:r>
            <a:r>
              <a:rPr lang="en-US" sz="11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100" b="0" dirty="0">
                <a:solidFill>
                  <a:srgbClr val="0D315F"/>
                </a:solidFill>
                <a:latin typeface="Aptos"/>
              </a:rPr>
              <a:t>sufficient</a:t>
            </a:r>
            <a:r>
              <a:rPr lang="en-US" sz="1100" b="0" dirty="0">
                <a:solidFill>
                  <a:srgbClr val="0D315F"/>
                </a:solidFill>
                <a:latin typeface="Aptos"/>
              </a:rPr>
              <a:t> </a:t>
            </a:r>
            <a:r>
              <a:rPr sz="1100" b="0" dirty="0">
                <a:solidFill>
                  <a:srgbClr val="0D315F"/>
                </a:solidFill>
                <a:latin typeface="Aptos"/>
              </a:rPr>
              <a:t>data collection).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91440" y="5705856"/>
            <a:ext cx="12015216" cy="621792"/>
          </a:xfrm>
          <a:prstGeom prst="roundRect">
            <a:avLst/>
          </a:prstGeom>
          <a:solidFill>
            <a:srgbClr val="092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652272" y="5824728"/>
            <a:ext cx="411480" cy="411480"/>
          </a:xfrm>
          <a:prstGeom prst="ellipse">
            <a:avLst/>
          </a:prstGeom>
          <a:solidFill>
            <a:srgbClr val="092F6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652272" y="5815584"/>
            <a:ext cx="411480" cy="4114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Aptos"/>
              </a:rPr>
              <a:t>◎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70432" y="5875020"/>
            <a:ext cx="150876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ptos"/>
              </a:rPr>
              <a:t>BOTTOM LINE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017520" y="5720556"/>
            <a:ext cx="10972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ounded Rectangle 173"/>
          <p:cNvSpPr/>
          <p:nvPr/>
        </p:nvSpPr>
        <p:spPr>
          <a:xfrm>
            <a:off x="9393936" y="5806441"/>
            <a:ext cx="1856231" cy="310896"/>
          </a:xfrm>
          <a:prstGeom prst="roundRect">
            <a:avLst/>
          </a:prstGeom>
          <a:solidFill>
            <a:srgbClr val="E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9412224" y="5843017"/>
            <a:ext cx="1819656" cy="219456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019" b="1" dirty="0">
                <a:solidFill>
                  <a:srgbClr val="092F63"/>
                </a:solidFill>
                <a:latin typeface="Aptos"/>
              </a:rPr>
              <a:t>33.24 min → 8.86 min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1332463" y="5852075"/>
            <a:ext cx="673236" cy="2277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00" b="0" dirty="0">
                <a:solidFill>
                  <a:srgbClr val="FFFFFF"/>
                </a:solidFill>
                <a:latin typeface="Aptos"/>
              </a:rPr>
              <a:t>(ETA error)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154020" y="5719572"/>
            <a:ext cx="8192742" cy="61247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Aptos"/>
              </a:rPr>
              <a:t>The core feasibility has already been demonstrated.</a:t>
            </a:r>
          </a:p>
          <a:p>
            <a:pPr algn="l"/>
            <a:r>
              <a:rPr sz="1100" b="0" dirty="0">
                <a:solidFill>
                  <a:srgbClr val="FFFFFF"/>
                </a:solidFill>
                <a:latin typeface="Aptos"/>
              </a:rPr>
              <a:t>The remaining work focuses on live-data access, broader validation, data-source</a:t>
            </a:r>
            <a:r>
              <a:rPr lang="en-US" sz="11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integration</a:t>
            </a:r>
            <a:endParaRPr lang="en-US" sz="1100" b="0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100" b="0" dirty="0">
                <a:solidFill>
                  <a:srgbClr val="FFFFFF"/>
                </a:solidFill>
                <a:latin typeface="Aptos"/>
              </a:rPr>
              <a:t>and deployment at scale —</a:t>
            </a:r>
            <a:r>
              <a:rPr lang="en-US" sz="11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with a modular architecture and defined fallback mechanisms already in place.</a:t>
            </a:r>
          </a:p>
        </p:txBody>
      </p:sp>
      <p:sp>
        <p:nvSpPr>
          <p:cNvPr id="19" name="Oval 18" descr="Your startup LOGO">
            <a:extLst>
              <a:ext uri="{FF2B5EF4-FFF2-40B4-BE49-F238E27FC236}">
                <a16:creationId xmlns:a16="http://schemas.microsoft.com/office/drawing/2014/main" id="{506C883D-1792-B140-C951-48789B13D42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01353"/>
            <a:ext cx="135509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SteamX</a:t>
            </a:r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C6E117-4C18-2816-64C7-884033FF1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CDC962F8-AD17-77FC-5CA8-758D2CDA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27" name="Footer Placeholder 6">
            <a:extLst>
              <a:ext uri="{FF2B5EF4-FFF2-40B4-BE49-F238E27FC236}">
                <a16:creationId xmlns:a16="http://schemas.microsoft.com/office/drawing/2014/main" id="{77358F83-4AA7-B66B-9C0F-E332F1992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9" name="Rounded Rectangle 107">
            <a:extLst>
              <a:ext uri="{FF2B5EF4-FFF2-40B4-BE49-F238E27FC236}">
                <a16:creationId xmlns:a16="http://schemas.microsoft.com/office/drawing/2014/main" id="{A85CE5EC-6F9C-5CAF-6512-7BA075FDC756}"/>
              </a:ext>
            </a:extLst>
          </p:cNvPr>
          <p:cNvSpPr/>
          <p:nvPr/>
        </p:nvSpPr>
        <p:spPr>
          <a:xfrm>
            <a:off x="1444536" y="833279"/>
            <a:ext cx="3160892" cy="368827"/>
          </a:xfrm>
          <a:prstGeom prst="roundRect">
            <a:avLst/>
          </a:prstGeom>
          <a:solidFill>
            <a:srgbClr val="624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FEASIBILITY</a:t>
            </a:r>
            <a:endParaRPr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180EB31-E8D2-D8C3-6FF2-19E9ED2D565B}"/>
              </a:ext>
            </a:extLst>
          </p:cNvPr>
          <p:cNvSpPr/>
          <p:nvPr/>
        </p:nvSpPr>
        <p:spPr>
          <a:xfrm>
            <a:off x="1676216" y="842579"/>
            <a:ext cx="343422" cy="34342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Segoe UI Symbol"/>
              </a:rPr>
              <a:t>◎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3A63187-A110-E53E-74EB-96D5C596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A1B7C58F-8EF8-EF4D-9747-06238A10A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194" y="4039673"/>
            <a:ext cx="149555" cy="305613"/>
          </a:xfrm>
          <a:prstGeom prst="rect">
            <a:avLst/>
          </a:prstGeom>
        </p:spPr>
      </p:pic>
      <p:pic>
        <p:nvPicPr>
          <p:cNvPr id="43" name="Image 1" descr="preencoded.png">
            <a:extLst>
              <a:ext uri="{FF2B5EF4-FFF2-40B4-BE49-F238E27FC236}">
                <a16:creationId xmlns:a16="http://schemas.microsoft.com/office/drawing/2014/main" id="{D7319E6D-1CF4-2205-9A14-0B6A55EA6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1245" y="3994156"/>
            <a:ext cx="3361741" cy="2308352"/>
          </a:xfrm>
          <a:prstGeom prst="rect">
            <a:avLst/>
          </a:prstGeom>
        </p:spPr>
      </p:pic>
      <p:pic>
        <p:nvPicPr>
          <p:cNvPr id="44" name="Image 2" descr="preencoded.png">
            <a:extLst>
              <a:ext uri="{FF2B5EF4-FFF2-40B4-BE49-F238E27FC236}">
                <a16:creationId xmlns:a16="http://schemas.microsoft.com/office/drawing/2014/main" id="{EACA8686-0FC6-FDD9-FFCE-E471CBAC26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2820" y="5424684"/>
            <a:ext cx="2984602" cy="65024"/>
          </a:xfrm>
          <a:prstGeom prst="rect">
            <a:avLst/>
          </a:prstGeom>
        </p:spPr>
      </p:pic>
      <p:pic>
        <p:nvPicPr>
          <p:cNvPr id="45" name="Image 3" descr="preencoded.png">
            <a:extLst>
              <a:ext uri="{FF2B5EF4-FFF2-40B4-BE49-F238E27FC236}">
                <a16:creationId xmlns:a16="http://schemas.microsoft.com/office/drawing/2014/main" id="{AE12D381-61A0-7699-EA53-F734653A2B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3312" y="4767942"/>
            <a:ext cx="1066394" cy="656742"/>
          </a:xfrm>
          <a:prstGeom prst="rect">
            <a:avLst/>
          </a:prstGeom>
        </p:spPr>
      </p:pic>
      <p:pic>
        <p:nvPicPr>
          <p:cNvPr id="46" name="Image 4" descr="preencoded.png">
            <a:extLst>
              <a:ext uri="{FF2B5EF4-FFF2-40B4-BE49-F238E27FC236}">
                <a16:creationId xmlns:a16="http://schemas.microsoft.com/office/drawing/2014/main" id="{C458B38F-028B-47B6-B3E8-0F1DD75964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2519" y="4683062"/>
            <a:ext cx="474675" cy="591718"/>
          </a:xfrm>
          <a:prstGeom prst="rect">
            <a:avLst/>
          </a:prstGeom>
        </p:spPr>
      </p:pic>
      <p:pic>
        <p:nvPicPr>
          <p:cNvPr id="47" name="Image 5" descr="preencoded.png">
            <a:extLst>
              <a:ext uri="{FF2B5EF4-FFF2-40B4-BE49-F238E27FC236}">
                <a16:creationId xmlns:a16="http://schemas.microsoft.com/office/drawing/2014/main" id="{9BB976F4-C79D-F792-B622-12C59101A3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2327" y="4722077"/>
            <a:ext cx="513690" cy="565709"/>
          </a:xfrm>
          <a:prstGeom prst="rect">
            <a:avLst/>
          </a:prstGeom>
        </p:spPr>
      </p:pic>
      <p:pic>
        <p:nvPicPr>
          <p:cNvPr id="48" name="Image 6" descr="preencoded.png">
            <a:extLst>
              <a:ext uri="{FF2B5EF4-FFF2-40B4-BE49-F238E27FC236}">
                <a16:creationId xmlns:a16="http://schemas.microsoft.com/office/drawing/2014/main" id="{E99F6389-1C98-924E-0F17-E55B88C49B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23757" y="4052678"/>
            <a:ext cx="3296717" cy="429158"/>
          </a:xfrm>
          <a:prstGeom prst="rect">
            <a:avLst/>
          </a:prstGeom>
          <a:solidFill>
            <a:srgbClr val="FA8E23"/>
          </a:solidFill>
        </p:spPr>
      </p:pic>
      <p:sp>
        <p:nvSpPr>
          <p:cNvPr id="51" name="Text 2">
            <a:extLst>
              <a:ext uri="{FF2B5EF4-FFF2-40B4-BE49-F238E27FC236}">
                <a16:creationId xmlns:a16="http://schemas.microsoft.com/office/drawing/2014/main" id="{A8EF0599-18A0-AC36-F5E6-0E83FE6299DF}"/>
              </a:ext>
            </a:extLst>
          </p:cNvPr>
          <p:cNvSpPr/>
          <p:nvPr/>
        </p:nvSpPr>
        <p:spPr>
          <a:xfrm>
            <a:off x="9012326" y="5541726"/>
            <a:ext cx="3017609" cy="500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88"/>
              </a:lnSpc>
            </a:pPr>
            <a:r>
              <a:rPr lang="en-US" sz="1200" dirty="0">
                <a:solidFill>
                  <a:srgbClr val="67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is primarily software-based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793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does not require additional physical railway infrastructure for the prototype.</a:t>
            </a:r>
            <a:endParaRPr lang="en-US" sz="1200" dirty="0"/>
          </a:p>
        </p:txBody>
      </p:sp>
      <p:sp>
        <p:nvSpPr>
          <p:cNvPr id="52" name="Text 3">
            <a:extLst>
              <a:ext uri="{FF2B5EF4-FFF2-40B4-BE49-F238E27FC236}">
                <a16:creationId xmlns:a16="http://schemas.microsoft.com/office/drawing/2014/main" id="{F2487F75-38E6-14EE-63DF-D3918D530548}"/>
              </a:ext>
            </a:extLst>
          </p:cNvPr>
          <p:cNvSpPr/>
          <p:nvPr/>
        </p:nvSpPr>
        <p:spPr>
          <a:xfrm>
            <a:off x="10046208" y="4527353"/>
            <a:ext cx="2022245" cy="9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48D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reliable journey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48D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passenger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8D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48D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unnecessary waiting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48D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travel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48D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decisions.</a:t>
            </a:r>
            <a:endParaRPr lang="en-US" sz="1200" dirty="0"/>
          </a:p>
        </p:txBody>
      </p:sp>
      <p:pic>
        <p:nvPicPr>
          <p:cNvPr id="53" name="Image 8" descr="preencoded.png">
            <a:extLst>
              <a:ext uri="{FF2B5EF4-FFF2-40B4-BE49-F238E27FC236}">
                <a16:creationId xmlns:a16="http://schemas.microsoft.com/office/drawing/2014/main" id="{BDC6AE3F-1D66-2E54-F5AA-8C5C9027C9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9697" y="4338783"/>
            <a:ext cx="2750515" cy="1918208"/>
          </a:xfrm>
          <a:prstGeom prst="rect">
            <a:avLst/>
          </a:prstGeom>
        </p:spPr>
      </p:pic>
      <p:pic>
        <p:nvPicPr>
          <p:cNvPr id="54" name="Image 9" descr="preencoded.png">
            <a:extLst>
              <a:ext uri="{FF2B5EF4-FFF2-40B4-BE49-F238E27FC236}">
                <a16:creationId xmlns:a16="http://schemas.microsoft.com/office/drawing/2014/main" id="{8AFCF925-6E7C-18CF-0817-B1CB0405DA3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44768" y="5860580"/>
            <a:ext cx="130048" cy="136550"/>
          </a:xfrm>
          <a:prstGeom prst="rect">
            <a:avLst/>
          </a:prstGeom>
        </p:spPr>
      </p:pic>
      <p:pic>
        <p:nvPicPr>
          <p:cNvPr id="55" name="Image 10" descr="preencoded.png">
            <a:extLst>
              <a:ext uri="{FF2B5EF4-FFF2-40B4-BE49-F238E27FC236}">
                <a16:creationId xmlns:a16="http://schemas.microsoft.com/office/drawing/2014/main" id="{529B2DDF-F37B-A433-49E4-4F4BB037C43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44768" y="5678512"/>
            <a:ext cx="130048" cy="130048"/>
          </a:xfrm>
          <a:prstGeom prst="rect">
            <a:avLst/>
          </a:prstGeom>
        </p:spPr>
      </p:pic>
      <p:pic>
        <p:nvPicPr>
          <p:cNvPr id="56" name="Image 11" descr="preencoded.png">
            <a:extLst>
              <a:ext uri="{FF2B5EF4-FFF2-40B4-BE49-F238E27FC236}">
                <a16:creationId xmlns:a16="http://schemas.microsoft.com/office/drawing/2014/main" id="{B9BA1A10-5F9A-0AB9-EDF5-22B8A988364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44768" y="5496445"/>
            <a:ext cx="130048" cy="136550"/>
          </a:xfrm>
          <a:prstGeom prst="rect">
            <a:avLst/>
          </a:prstGeom>
        </p:spPr>
      </p:pic>
      <p:pic>
        <p:nvPicPr>
          <p:cNvPr id="57" name="Image 12" descr="preencoded.png">
            <a:extLst>
              <a:ext uri="{FF2B5EF4-FFF2-40B4-BE49-F238E27FC236}">
                <a16:creationId xmlns:a16="http://schemas.microsoft.com/office/drawing/2014/main" id="{AD19C320-E93E-617E-1FAD-2146D3B21C6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44768" y="5314143"/>
            <a:ext cx="130048" cy="136550"/>
          </a:xfrm>
          <a:prstGeom prst="rect">
            <a:avLst/>
          </a:prstGeom>
        </p:spPr>
      </p:pic>
      <p:pic>
        <p:nvPicPr>
          <p:cNvPr id="58" name="Image 13" descr="preencoded.png">
            <a:extLst>
              <a:ext uri="{FF2B5EF4-FFF2-40B4-BE49-F238E27FC236}">
                <a16:creationId xmlns:a16="http://schemas.microsoft.com/office/drawing/2014/main" id="{185CFAAB-A7A8-434F-26F0-47E8BB96CA2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38266" y="5132311"/>
            <a:ext cx="130048" cy="130048"/>
          </a:xfrm>
          <a:prstGeom prst="rect">
            <a:avLst/>
          </a:prstGeom>
        </p:spPr>
      </p:pic>
      <p:pic>
        <p:nvPicPr>
          <p:cNvPr id="59" name="Image 14" descr="preencoded.png">
            <a:extLst>
              <a:ext uri="{FF2B5EF4-FFF2-40B4-BE49-F238E27FC236}">
                <a16:creationId xmlns:a16="http://schemas.microsoft.com/office/drawing/2014/main" id="{C8A45BB5-59EE-1776-4E91-134B8910D9F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38266" y="4943507"/>
            <a:ext cx="130048" cy="136550"/>
          </a:xfrm>
          <a:prstGeom prst="rect">
            <a:avLst/>
          </a:prstGeom>
        </p:spPr>
      </p:pic>
      <p:pic>
        <p:nvPicPr>
          <p:cNvPr id="60" name="Image 15" descr="preencoded.png">
            <a:extLst>
              <a:ext uri="{FF2B5EF4-FFF2-40B4-BE49-F238E27FC236}">
                <a16:creationId xmlns:a16="http://schemas.microsoft.com/office/drawing/2014/main" id="{61E8CDA8-6EDF-CBE9-7D9E-7457C554F47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38266" y="4767942"/>
            <a:ext cx="123546" cy="130048"/>
          </a:xfrm>
          <a:prstGeom prst="rect">
            <a:avLst/>
          </a:prstGeom>
        </p:spPr>
      </p:pic>
      <p:pic>
        <p:nvPicPr>
          <p:cNvPr id="61" name="Image 16" descr="preencoded.png">
            <a:extLst>
              <a:ext uri="{FF2B5EF4-FFF2-40B4-BE49-F238E27FC236}">
                <a16:creationId xmlns:a16="http://schemas.microsoft.com/office/drawing/2014/main" id="{C0491162-DDBA-70F0-68D0-13C3595B37D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38266" y="4586095"/>
            <a:ext cx="123546" cy="130048"/>
          </a:xfrm>
          <a:prstGeom prst="rect">
            <a:avLst/>
          </a:prstGeom>
        </p:spPr>
      </p:pic>
      <p:pic>
        <p:nvPicPr>
          <p:cNvPr id="62" name="Image 17" descr="preencoded.png">
            <a:extLst>
              <a:ext uri="{FF2B5EF4-FFF2-40B4-BE49-F238E27FC236}">
                <a16:creationId xmlns:a16="http://schemas.microsoft.com/office/drawing/2014/main" id="{13FA1270-B668-60B7-9E27-0E25FC8BADF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79745" y="4033170"/>
            <a:ext cx="539699" cy="507187"/>
          </a:xfrm>
          <a:prstGeom prst="rect">
            <a:avLst/>
          </a:prstGeom>
        </p:spPr>
      </p:pic>
      <p:sp>
        <p:nvSpPr>
          <p:cNvPr id="17417" name="Text 12">
            <a:extLst>
              <a:ext uri="{FF2B5EF4-FFF2-40B4-BE49-F238E27FC236}">
                <a16:creationId xmlns:a16="http://schemas.microsoft.com/office/drawing/2014/main" id="{8CD620DD-09C4-1EED-5F4C-7AAE2B1971CE}"/>
              </a:ext>
            </a:extLst>
          </p:cNvPr>
          <p:cNvSpPr/>
          <p:nvPr/>
        </p:nvSpPr>
        <p:spPr>
          <a:xfrm>
            <a:off x="6359347" y="4646698"/>
            <a:ext cx="2288845" cy="1463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90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ETA updates</a:t>
            </a:r>
          </a:p>
          <a:p>
            <a:r>
              <a:rPr lang="en-US" sz="1200" dirty="0">
                <a:solidFill>
                  <a:srgbClr val="618F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delay intelligence</a:t>
            </a:r>
          </a:p>
          <a:p>
            <a:r>
              <a:rPr lang="en-US" sz="1200" dirty="0">
                <a:solidFill>
                  <a:srgbClr val="618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Section-level analysis</a:t>
            </a:r>
          </a:p>
          <a:p>
            <a:r>
              <a:rPr lang="en-US" sz="1200" dirty="0">
                <a:solidFill>
                  <a:srgbClr val="5B8B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Congestion awareness</a:t>
            </a:r>
          </a:p>
          <a:p>
            <a:r>
              <a:rPr lang="en-US" sz="1200" dirty="0">
                <a:solidFill>
                  <a:srgbClr val="6794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predictions</a:t>
            </a:r>
          </a:p>
          <a:p>
            <a:r>
              <a:rPr lang="en-US" sz="1200" dirty="0">
                <a:solidFill>
                  <a:srgbClr val="5F91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retraining</a:t>
            </a:r>
          </a:p>
          <a:p>
            <a:r>
              <a:rPr lang="en-US" sz="1200" dirty="0">
                <a:solidFill>
                  <a:srgbClr val="5F9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health monitoring</a:t>
            </a:r>
          </a:p>
          <a:p>
            <a:r>
              <a:rPr lang="en-US" sz="1200" dirty="0">
                <a:solidFill>
                  <a:srgbClr val="6494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Graceful degradation when live data is unavailable</a:t>
            </a:r>
            <a:endParaRPr lang="en-US" sz="1200" dirty="0"/>
          </a:p>
        </p:txBody>
      </p:sp>
      <p:sp>
        <p:nvSpPr>
          <p:cNvPr id="17418" name="Shape 13">
            <a:extLst>
              <a:ext uri="{FF2B5EF4-FFF2-40B4-BE49-F238E27FC236}">
                <a16:creationId xmlns:a16="http://schemas.microsoft.com/office/drawing/2014/main" id="{C41F74BB-D544-5C8A-B781-B91CFE1FE576}"/>
              </a:ext>
            </a:extLst>
          </p:cNvPr>
          <p:cNvSpPr/>
          <p:nvPr/>
        </p:nvSpPr>
        <p:spPr>
          <a:xfrm>
            <a:off x="3056128" y="4475333"/>
            <a:ext cx="2789530" cy="1781658"/>
          </a:xfrm>
          <a:prstGeom prst="roundRect">
            <a:avLst>
              <a:gd name="adj" fmla="val 1642"/>
            </a:avLst>
          </a:prstGeom>
          <a:solidFill>
            <a:srgbClr val="F2EBFD"/>
          </a:solidFill>
          <a:ln w="19050">
            <a:solidFill>
              <a:srgbClr val="CDC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419" name="Image 19" descr="preencoded.png">
            <a:extLst>
              <a:ext uri="{FF2B5EF4-FFF2-40B4-BE49-F238E27FC236}">
                <a16:creationId xmlns:a16="http://schemas.microsoft.com/office/drawing/2014/main" id="{8D8FB465-CAD3-A719-679A-6036846ADCC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70707" y="5665271"/>
            <a:ext cx="156058" cy="156058"/>
          </a:xfrm>
          <a:prstGeom prst="rect">
            <a:avLst/>
          </a:prstGeom>
        </p:spPr>
      </p:pic>
      <p:pic>
        <p:nvPicPr>
          <p:cNvPr id="17420" name="Image 20" descr="preencoded.png">
            <a:extLst>
              <a:ext uri="{FF2B5EF4-FFF2-40B4-BE49-F238E27FC236}">
                <a16:creationId xmlns:a16="http://schemas.microsoft.com/office/drawing/2014/main" id="{26EEB827-6CDD-41EA-7396-0E1257D39C8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270707" y="5296938"/>
            <a:ext cx="156058" cy="162560"/>
          </a:xfrm>
          <a:prstGeom prst="rect">
            <a:avLst/>
          </a:prstGeom>
        </p:spPr>
      </p:pic>
      <p:pic>
        <p:nvPicPr>
          <p:cNvPr id="17421" name="Image 21" descr="preencoded.png">
            <a:extLst>
              <a:ext uri="{FF2B5EF4-FFF2-40B4-BE49-F238E27FC236}">
                <a16:creationId xmlns:a16="http://schemas.microsoft.com/office/drawing/2014/main" id="{BD730E17-A16B-1ECC-A819-8554553246F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70707" y="4925423"/>
            <a:ext cx="156058" cy="156058"/>
          </a:xfrm>
          <a:prstGeom prst="rect">
            <a:avLst/>
          </a:prstGeom>
        </p:spPr>
      </p:pic>
      <p:pic>
        <p:nvPicPr>
          <p:cNvPr id="17422" name="Image 22" descr="preencoded.png">
            <a:extLst>
              <a:ext uri="{FF2B5EF4-FFF2-40B4-BE49-F238E27FC236}">
                <a16:creationId xmlns:a16="http://schemas.microsoft.com/office/drawing/2014/main" id="{4599DEDE-C503-2277-0750-6761AAFAC50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257703" y="4541069"/>
            <a:ext cx="156058" cy="162560"/>
          </a:xfrm>
          <a:prstGeom prst="rect">
            <a:avLst/>
          </a:prstGeom>
        </p:spPr>
      </p:pic>
      <p:pic>
        <p:nvPicPr>
          <p:cNvPr id="17423" name="Image 23" descr="preencoded.png">
            <a:extLst>
              <a:ext uri="{FF2B5EF4-FFF2-40B4-BE49-F238E27FC236}">
                <a16:creationId xmlns:a16="http://schemas.microsoft.com/office/drawing/2014/main" id="{C9281924-24B6-6819-B5D8-94ABC9AD2F6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062631" y="4052678"/>
            <a:ext cx="2789530" cy="429158"/>
          </a:xfrm>
          <a:prstGeom prst="rect">
            <a:avLst/>
          </a:prstGeom>
        </p:spPr>
      </p:pic>
      <p:sp>
        <p:nvSpPr>
          <p:cNvPr id="17428" name="Text 17">
            <a:extLst>
              <a:ext uri="{FF2B5EF4-FFF2-40B4-BE49-F238E27FC236}">
                <a16:creationId xmlns:a16="http://schemas.microsoft.com/office/drawing/2014/main" id="{D24595C1-2635-0395-87CE-F2CA1B516A9F}"/>
              </a:ext>
            </a:extLst>
          </p:cNvPr>
          <p:cNvSpPr/>
          <p:nvPr/>
        </p:nvSpPr>
        <p:spPr>
          <a:xfrm>
            <a:off x="3550311" y="4556613"/>
            <a:ext cx="2288842" cy="161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57B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Reduces uncertainty-related passenger losses</a:t>
            </a:r>
          </a:p>
          <a:p>
            <a:r>
              <a:rPr lang="en-US" sz="1200" dirty="0">
                <a:solidFill>
                  <a:srgbClr val="6B7F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improve planning for connected</a:t>
            </a:r>
            <a:endParaRPr lang="en-US" sz="1200" dirty="0"/>
          </a:p>
          <a:p>
            <a:r>
              <a:rPr lang="en-US" sz="1200" dirty="0">
                <a:solidFill>
                  <a:srgbClr val="6B7F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Logistics operations</a:t>
            </a:r>
          </a:p>
          <a:p>
            <a:r>
              <a:rPr lang="en-US" sz="1200" dirty="0">
                <a:solidFill>
                  <a:srgbClr val="6B7F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a foundation for scalable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6B7FC3"/>
                </a:solidFill>
                <a:latin typeface="Aptos" pitchFamily="34" charset="0"/>
              </a:rPr>
              <a:t>R</a:t>
            </a:r>
            <a:r>
              <a:rPr lang="en-US" sz="1200" dirty="0">
                <a:solidFill>
                  <a:srgbClr val="6B7F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ailway information services</a:t>
            </a:r>
          </a:p>
          <a:p>
            <a:r>
              <a:rPr lang="en-US" sz="1200" dirty="0">
                <a:solidFill>
                  <a:srgbClr val="617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Reduces dependence on manual ETA estimation</a:t>
            </a:r>
            <a:endParaRPr lang="en-US" sz="1200" dirty="0"/>
          </a:p>
        </p:txBody>
      </p:sp>
      <p:pic>
        <p:nvPicPr>
          <p:cNvPr id="17429" name="Image 25" descr="preencoded.png">
            <a:extLst>
              <a:ext uri="{FF2B5EF4-FFF2-40B4-BE49-F238E27FC236}">
                <a16:creationId xmlns:a16="http://schemas.microsoft.com/office/drawing/2014/main" id="{0447C20A-0F9E-CA57-EBE4-7FAF461B1B4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034" y="4449324"/>
            <a:ext cx="2861056" cy="1807667"/>
          </a:xfrm>
          <a:prstGeom prst="rect">
            <a:avLst/>
          </a:prstGeom>
        </p:spPr>
      </p:pic>
      <p:pic>
        <p:nvPicPr>
          <p:cNvPr id="17430" name="Image 26" descr="preencoded.png">
            <a:extLst>
              <a:ext uri="{FF2B5EF4-FFF2-40B4-BE49-F238E27FC236}">
                <a16:creationId xmlns:a16="http://schemas.microsoft.com/office/drawing/2014/main" id="{4588152C-2E98-19EC-C673-8544A20BCC1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13097" y="5792068"/>
            <a:ext cx="156058" cy="156058"/>
          </a:xfrm>
          <a:prstGeom prst="rect">
            <a:avLst/>
          </a:prstGeom>
        </p:spPr>
      </p:pic>
      <p:pic>
        <p:nvPicPr>
          <p:cNvPr id="17431" name="Image 27" descr="preencoded.png">
            <a:extLst>
              <a:ext uri="{FF2B5EF4-FFF2-40B4-BE49-F238E27FC236}">
                <a16:creationId xmlns:a16="http://schemas.microsoft.com/office/drawing/2014/main" id="{22010947-7C0F-ADC8-9E64-ACFECCEB29B2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13097" y="5437572"/>
            <a:ext cx="156058" cy="162560"/>
          </a:xfrm>
          <a:prstGeom prst="rect">
            <a:avLst/>
          </a:prstGeom>
        </p:spPr>
      </p:pic>
      <p:pic>
        <p:nvPicPr>
          <p:cNvPr id="17432" name="Image 28" descr="preencoded.png">
            <a:extLst>
              <a:ext uri="{FF2B5EF4-FFF2-40B4-BE49-F238E27FC236}">
                <a16:creationId xmlns:a16="http://schemas.microsoft.com/office/drawing/2014/main" id="{1959094F-6DF1-C421-A3DC-1AA608FF149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13097" y="5081481"/>
            <a:ext cx="156058" cy="156058"/>
          </a:xfrm>
          <a:prstGeom prst="rect">
            <a:avLst/>
          </a:prstGeom>
        </p:spPr>
      </p:pic>
      <p:pic>
        <p:nvPicPr>
          <p:cNvPr id="17433" name="Image 29" descr="preencoded.png">
            <a:extLst>
              <a:ext uri="{FF2B5EF4-FFF2-40B4-BE49-F238E27FC236}">
                <a16:creationId xmlns:a16="http://schemas.microsoft.com/office/drawing/2014/main" id="{8ABBDBDE-CBA3-07DC-22C4-30D9427DDBB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13097" y="4807840"/>
            <a:ext cx="156058" cy="156058"/>
          </a:xfrm>
          <a:prstGeom prst="rect">
            <a:avLst/>
          </a:prstGeom>
        </p:spPr>
      </p:pic>
      <p:pic>
        <p:nvPicPr>
          <p:cNvPr id="17434" name="Image 30" descr="preencoded.png">
            <a:extLst>
              <a:ext uri="{FF2B5EF4-FFF2-40B4-BE49-F238E27FC236}">
                <a16:creationId xmlns:a16="http://schemas.microsoft.com/office/drawing/2014/main" id="{F2790EA0-1CB2-B9B8-1F17-B5E48EF54D72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13097" y="4628789"/>
            <a:ext cx="156058" cy="162560"/>
          </a:xfrm>
          <a:prstGeom prst="rect">
            <a:avLst/>
          </a:prstGeom>
        </p:spPr>
      </p:pic>
      <p:pic>
        <p:nvPicPr>
          <p:cNvPr id="17435" name="Image 31" descr="preencoded.png">
            <a:extLst>
              <a:ext uri="{FF2B5EF4-FFF2-40B4-BE49-F238E27FC236}">
                <a16:creationId xmlns:a16="http://schemas.microsoft.com/office/drawing/2014/main" id="{C5051BDC-6E37-032F-5806-DD5CA0D0D0D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1034" y="4052678"/>
            <a:ext cx="2867558" cy="429158"/>
          </a:xfrm>
          <a:prstGeom prst="rect">
            <a:avLst/>
          </a:prstGeom>
        </p:spPr>
      </p:pic>
      <p:sp>
        <p:nvSpPr>
          <p:cNvPr id="17440" name="Text 21">
            <a:extLst>
              <a:ext uri="{FF2B5EF4-FFF2-40B4-BE49-F238E27FC236}">
                <a16:creationId xmlns:a16="http://schemas.microsoft.com/office/drawing/2014/main" id="{DE36D9BF-8E40-49B0-76C3-2CED0C306DD5}"/>
              </a:ext>
            </a:extLst>
          </p:cNvPr>
          <p:cNvSpPr/>
          <p:nvPr/>
        </p:nvSpPr>
        <p:spPr>
          <a:xfrm>
            <a:off x="460189" y="4481836"/>
            <a:ext cx="2550037" cy="1710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8E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Reduces passenger uncertainty.</a:t>
            </a:r>
          </a:p>
          <a:p>
            <a:r>
              <a:rPr lang="en-US" sz="1200" dirty="0">
                <a:solidFill>
                  <a:srgbClr val="669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reliable travel information.</a:t>
            </a:r>
            <a:endParaRPr lang="en-US" sz="1200" dirty="0"/>
          </a:p>
          <a:p>
            <a:r>
              <a:rPr lang="en-US" sz="1200" dirty="0">
                <a:solidFill>
                  <a:srgbClr val="6692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passengers make accurate decisions during delays.</a:t>
            </a:r>
            <a:endParaRPr lang="en-US" sz="1200" dirty="0"/>
          </a:p>
          <a:p>
            <a:r>
              <a:rPr lang="en-US" sz="1200" dirty="0">
                <a:solidFill>
                  <a:srgbClr val="689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transparency with explainable predictions.</a:t>
            </a:r>
            <a:endParaRPr lang="en-US" sz="1200" dirty="0"/>
          </a:p>
          <a:p>
            <a:r>
              <a:rPr lang="en-US" sz="1200" dirty="0">
                <a:solidFill>
                  <a:srgbClr val="689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Makes information more accessible through a simple dashboard.</a:t>
            </a:r>
            <a:endParaRPr lang="en-US" sz="1200" dirty="0"/>
          </a:p>
        </p:txBody>
      </p:sp>
      <p:pic>
        <p:nvPicPr>
          <p:cNvPr id="17441" name="Image 33" descr="preencoded.png">
            <a:extLst>
              <a:ext uri="{FF2B5EF4-FFF2-40B4-BE49-F238E27FC236}">
                <a16:creationId xmlns:a16="http://schemas.microsoft.com/office/drawing/2014/main" id="{53E2FDCE-4BE9-5D8F-B88A-CD73F5AE1FD4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285428" y="1601273"/>
            <a:ext cx="2828544" cy="2334362"/>
          </a:xfrm>
          <a:prstGeom prst="rect">
            <a:avLst/>
          </a:prstGeom>
        </p:spPr>
      </p:pic>
      <p:sp>
        <p:nvSpPr>
          <p:cNvPr id="17442" name="Shape 22">
            <a:extLst>
              <a:ext uri="{FF2B5EF4-FFF2-40B4-BE49-F238E27FC236}">
                <a16:creationId xmlns:a16="http://schemas.microsoft.com/office/drawing/2014/main" id="{FE43141D-FD9C-BF78-8AB1-B986E8BAA470}"/>
              </a:ext>
            </a:extLst>
          </p:cNvPr>
          <p:cNvSpPr/>
          <p:nvPr/>
        </p:nvSpPr>
        <p:spPr>
          <a:xfrm>
            <a:off x="9415476" y="2215632"/>
            <a:ext cx="2574950" cy="1684122"/>
          </a:xfrm>
          <a:prstGeom prst="roundRect">
            <a:avLst>
              <a:gd name="adj" fmla="val 2703"/>
            </a:avLst>
          </a:prstGeom>
          <a:solidFill>
            <a:srgbClr val="FDF5E4"/>
          </a:solidFill>
          <a:ln w="9525">
            <a:solidFill>
              <a:srgbClr val="FDD7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443" name="Image 34" descr="preencoded.png">
            <a:extLst>
              <a:ext uri="{FF2B5EF4-FFF2-40B4-BE49-F238E27FC236}">
                <a16:creationId xmlns:a16="http://schemas.microsoft.com/office/drawing/2014/main" id="{49C8E7F2-E163-AF3E-B6C7-2EB93145D3C0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562265" y="3395934"/>
            <a:ext cx="221082" cy="227584"/>
          </a:xfrm>
          <a:prstGeom prst="rect">
            <a:avLst/>
          </a:prstGeom>
        </p:spPr>
      </p:pic>
      <p:grpSp>
        <p:nvGrpSpPr>
          <p:cNvPr id="17511" name="Group 17510">
            <a:extLst>
              <a:ext uri="{FF2B5EF4-FFF2-40B4-BE49-F238E27FC236}">
                <a16:creationId xmlns:a16="http://schemas.microsoft.com/office/drawing/2014/main" id="{905586EA-CF86-1034-F64B-AE4C02F05617}"/>
              </a:ext>
            </a:extLst>
          </p:cNvPr>
          <p:cNvGrpSpPr/>
          <p:nvPr/>
        </p:nvGrpSpPr>
        <p:grpSpPr>
          <a:xfrm>
            <a:off x="9542758" y="2863637"/>
            <a:ext cx="247091" cy="201574"/>
            <a:chOff x="9526016" y="2849734"/>
            <a:chExt cx="247091" cy="201574"/>
          </a:xfrm>
        </p:grpSpPr>
        <p:pic>
          <p:nvPicPr>
            <p:cNvPr id="17445" name="Image 36" descr="preencoded.png">
              <a:extLst>
                <a:ext uri="{FF2B5EF4-FFF2-40B4-BE49-F238E27FC236}">
                  <a16:creationId xmlns:a16="http://schemas.microsoft.com/office/drawing/2014/main" id="{FF225CFC-9859-0294-C805-A7852FCF2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9526016" y="2849734"/>
              <a:ext cx="247091" cy="201574"/>
            </a:xfrm>
            <a:prstGeom prst="rect">
              <a:avLst/>
            </a:prstGeom>
          </p:spPr>
        </p:pic>
        <p:pic>
          <p:nvPicPr>
            <p:cNvPr id="17446" name="Image 37" descr="preencoded.png">
              <a:extLst>
                <a:ext uri="{FF2B5EF4-FFF2-40B4-BE49-F238E27FC236}">
                  <a16:creationId xmlns:a16="http://schemas.microsoft.com/office/drawing/2014/main" id="{078A7238-F5F2-434E-213F-AADE991A7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9565031" y="2875744"/>
              <a:ext cx="188570" cy="149555"/>
            </a:xfrm>
            <a:prstGeom prst="rect">
              <a:avLst/>
            </a:prstGeom>
          </p:spPr>
        </p:pic>
      </p:grpSp>
      <p:pic>
        <p:nvPicPr>
          <p:cNvPr id="17447" name="Image 38" descr="preencoded.png">
            <a:extLst>
              <a:ext uri="{FF2B5EF4-FFF2-40B4-BE49-F238E27FC236}">
                <a16:creationId xmlns:a16="http://schemas.microsoft.com/office/drawing/2014/main" id="{34664387-5EB3-3BFC-C267-E81330875437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545523" y="2601196"/>
            <a:ext cx="221082" cy="201574"/>
          </a:xfrm>
          <a:prstGeom prst="rect">
            <a:avLst/>
          </a:prstGeom>
        </p:spPr>
      </p:pic>
      <p:pic>
        <p:nvPicPr>
          <p:cNvPr id="17448" name="Image 39" descr="preencoded.png">
            <a:extLst>
              <a:ext uri="{FF2B5EF4-FFF2-40B4-BE49-F238E27FC236}">
                <a16:creationId xmlns:a16="http://schemas.microsoft.com/office/drawing/2014/main" id="{1D6E2384-DF31-AEFA-D95F-EB6EAC1EA18D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565031" y="2310680"/>
            <a:ext cx="169062" cy="260096"/>
          </a:xfrm>
          <a:prstGeom prst="rect">
            <a:avLst/>
          </a:prstGeom>
        </p:spPr>
      </p:pic>
      <p:grpSp>
        <p:nvGrpSpPr>
          <p:cNvPr id="17512" name="Group 17511">
            <a:extLst>
              <a:ext uri="{FF2B5EF4-FFF2-40B4-BE49-F238E27FC236}">
                <a16:creationId xmlns:a16="http://schemas.microsoft.com/office/drawing/2014/main" id="{8742482E-B0A0-7895-5CCF-384E45946BCB}"/>
              </a:ext>
            </a:extLst>
          </p:cNvPr>
          <p:cNvGrpSpPr/>
          <p:nvPr/>
        </p:nvGrpSpPr>
        <p:grpSpPr>
          <a:xfrm>
            <a:off x="9562266" y="3138973"/>
            <a:ext cx="227584" cy="238444"/>
            <a:chOff x="9545524" y="3155347"/>
            <a:chExt cx="227584" cy="238444"/>
          </a:xfrm>
        </p:grpSpPr>
        <p:pic>
          <p:nvPicPr>
            <p:cNvPr id="17444" name="Image 35" descr="preencoded.png">
              <a:extLst>
                <a:ext uri="{FF2B5EF4-FFF2-40B4-BE49-F238E27FC236}">
                  <a16:creationId xmlns:a16="http://schemas.microsoft.com/office/drawing/2014/main" id="{1E975052-5C55-040E-DEE4-D816DF493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9545524" y="3155347"/>
              <a:ext cx="227584" cy="234086"/>
            </a:xfrm>
            <a:prstGeom prst="rect">
              <a:avLst/>
            </a:prstGeom>
          </p:spPr>
        </p:pic>
        <p:sp>
          <p:nvSpPr>
            <p:cNvPr id="17451" name="Text 25">
              <a:extLst>
                <a:ext uri="{FF2B5EF4-FFF2-40B4-BE49-F238E27FC236}">
                  <a16:creationId xmlns:a16="http://schemas.microsoft.com/office/drawing/2014/main" id="{18314532-C5D8-3807-D290-BD50539D5DB3}"/>
                </a:ext>
              </a:extLst>
            </p:cNvPr>
            <p:cNvSpPr/>
            <p:nvPr/>
          </p:nvSpPr>
          <p:spPr>
            <a:xfrm>
              <a:off x="9613798" y="3211724"/>
              <a:ext cx="84531" cy="1820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ts val="1178"/>
                </a:lnSpc>
              </a:pPr>
              <a:r>
                <a:rPr lang="en-US" sz="1557" b="1" dirty="0">
                  <a:solidFill>
                    <a:srgbClr val="F7DEC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</a:t>
              </a:r>
              <a:endParaRPr lang="en-US" sz="1557" dirty="0"/>
            </a:p>
          </p:txBody>
        </p:sp>
      </p:grpSp>
      <p:sp>
        <p:nvSpPr>
          <p:cNvPr id="17454" name="Text 28">
            <a:extLst>
              <a:ext uri="{FF2B5EF4-FFF2-40B4-BE49-F238E27FC236}">
                <a16:creationId xmlns:a16="http://schemas.microsoft.com/office/drawing/2014/main" id="{A4730900-92DE-E4B8-CED0-9A8FF2D52FA3}"/>
              </a:ext>
            </a:extLst>
          </p:cNvPr>
          <p:cNvSpPr/>
          <p:nvPr/>
        </p:nvSpPr>
        <p:spPr>
          <a:xfrm>
            <a:off x="9916160" y="2206177"/>
            <a:ext cx="2152293" cy="1566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6B86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applications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6581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Station display systems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6C88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Control-room dashboards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6682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Passenger information systems</a:t>
            </a:r>
          </a:p>
          <a:p>
            <a:r>
              <a:rPr lang="en-US" sz="1200" dirty="0">
                <a:solidFill>
                  <a:srgbClr val="6B8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railway-related digital services</a:t>
            </a:r>
            <a:endParaRPr lang="en-US" sz="1200" dirty="0"/>
          </a:p>
        </p:txBody>
      </p:sp>
      <p:pic>
        <p:nvPicPr>
          <p:cNvPr id="17455" name="Image 40" descr="preencoded.png">
            <a:extLst>
              <a:ext uri="{FF2B5EF4-FFF2-40B4-BE49-F238E27FC236}">
                <a16:creationId xmlns:a16="http://schemas.microsoft.com/office/drawing/2014/main" id="{D142E798-20E6-C12F-67B2-A0C1C77A9A1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278925" y="1113593"/>
            <a:ext cx="2835046" cy="513690"/>
          </a:xfrm>
          <a:prstGeom prst="rect">
            <a:avLst/>
          </a:prstGeom>
        </p:spPr>
      </p:pic>
      <p:sp>
        <p:nvSpPr>
          <p:cNvPr id="17458" name="Text 30">
            <a:extLst>
              <a:ext uri="{FF2B5EF4-FFF2-40B4-BE49-F238E27FC236}">
                <a16:creationId xmlns:a16="http://schemas.microsoft.com/office/drawing/2014/main" id="{EA0D1FBC-E0D7-811D-C85B-75E311680EDE}"/>
              </a:ext>
            </a:extLst>
          </p:cNvPr>
          <p:cNvSpPr/>
          <p:nvPr/>
        </p:nvSpPr>
        <p:spPr>
          <a:xfrm>
            <a:off x="9421978" y="1685804"/>
            <a:ext cx="24449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45"/>
              </a:lnSpc>
            </a:pPr>
            <a:r>
              <a:rPr lang="en-US" sz="1200" dirty="0">
                <a:solidFill>
                  <a:srgbClr val="4F6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APl-based architecture allows predictions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4F6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be consumed by:</a:t>
            </a:r>
            <a:endParaRPr lang="en-US" sz="1200" dirty="0"/>
          </a:p>
        </p:txBody>
      </p:sp>
      <p:pic>
        <p:nvPicPr>
          <p:cNvPr id="17459" name="Image 42" descr="preencoded.png">
            <a:extLst>
              <a:ext uri="{FF2B5EF4-FFF2-40B4-BE49-F238E27FC236}">
                <a16:creationId xmlns:a16="http://schemas.microsoft.com/office/drawing/2014/main" id="{3D0C77BD-4D2F-83BC-303B-FA4006CD393A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346343" y="1471225"/>
            <a:ext cx="2848051" cy="2470912"/>
          </a:xfrm>
          <a:prstGeom prst="rect">
            <a:avLst/>
          </a:prstGeom>
        </p:spPr>
      </p:pic>
      <p:pic>
        <p:nvPicPr>
          <p:cNvPr id="17460" name="Image 43" descr="preencoded.png">
            <a:extLst>
              <a:ext uri="{FF2B5EF4-FFF2-40B4-BE49-F238E27FC236}">
                <a16:creationId xmlns:a16="http://schemas.microsoft.com/office/drawing/2014/main" id="{BF695BDB-FB01-53BA-7A8F-38E0A62CD3DD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495898" y="2726188"/>
            <a:ext cx="2503424" cy="968858"/>
          </a:xfrm>
          <a:prstGeom prst="rect">
            <a:avLst/>
          </a:prstGeom>
        </p:spPr>
      </p:pic>
      <p:pic>
        <p:nvPicPr>
          <p:cNvPr id="17461" name="Image 44" descr="preencoded.png">
            <a:extLst>
              <a:ext uri="{FF2B5EF4-FFF2-40B4-BE49-F238E27FC236}">
                <a16:creationId xmlns:a16="http://schemas.microsoft.com/office/drawing/2014/main" id="{BEE2CD83-72BA-CC4F-6FF3-978E80659E2C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732723" y="3070815"/>
            <a:ext cx="221082" cy="351130"/>
          </a:xfrm>
          <a:prstGeom prst="rect">
            <a:avLst/>
          </a:prstGeom>
        </p:spPr>
      </p:pic>
      <p:pic>
        <p:nvPicPr>
          <p:cNvPr id="17462" name="Image 45" descr="preencoded.png">
            <a:extLst>
              <a:ext uri="{FF2B5EF4-FFF2-40B4-BE49-F238E27FC236}">
                <a16:creationId xmlns:a16="http://schemas.microsoft.com/office/drawing/2014/main" id="{A2FEE554-D935-84E7-2231-A842431CF0F6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251546" y="2758700"/>
            <a:ext cx="396646" cy="305613"/>
          </a:xfrm>
          <a:prstGeom prst="rect">
            <a:avLst/>
          </a:prstGeom>
        </p:spPr>
      </p:pic>
      <p:pic>
        <p:nvPicPr>
          <p:cNvPr id="17463" name="Image 46" descr="preencoded.png">
            <a:extLst>
              <a:ext uri="{FF2B5EF4-FFF2-40B4-BE49-F238E27FC236}">
                <a16:creationId xmlns:a16="http://schemas.microsoft.com/office/drawing/2014/main" id="{C54EAE80-224D-D092-D1CC-5960B4EFDE97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80224" y="2778207"/>
            <a:ext cx="702259" cy="663245"/>
          </a:xfrm>
          <a:prstGeom prst="rect">
            <a:avLst/>
          </a:prstGeom>
        </p:spPr>
      </p:pic>
      <p:pic>
        <p:nvPicPr>
          <p:cNvPr id="17464" name="Image 47" descr="preencoded.png">
            <a:extLst>
              <a:ext uri="{FF2B5EF4-FFF2-40B4-BE49-F238E27FC236}">
                <a16:creationId xmlns:a16="http://schemas.microsoft.com/office/drawing/2014/main" id="{E7792FC2-BDB7-7CEF-6392-F0D06FEA4A53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469889" y="2518111"/>
            <a:ext cx="2607462" cy="65024"/>
          </a:xfrm>
          <a:prstGeom prst="rect">
            <a:avLst/>
          </a:prstGeom>
        </p:spPr>
      </p:pic>
      <p:pic>
        <p:nvPicPr>
          <p:cNvPr id="17465" name="Image 48" descr="preencoded.png">
            <a:extLst>
              <a:ext uri="{FF2B5EF4-FFF2-40B4-BE49-F238E27FC236}">
                <a16:creationId xmlns:a16="http://schemas.microsoft.com/office/drawing/2014/main" id="{7EB64651-D8EF-828A-DED2-A3AD640E21CF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352845" y="1126598"/>
            <a:ext cx="2835046" cy="461670"/>
          </a:xfrm>
          <a:prstGeom prst="rect">
            <a:avLst/>
          </a:prstGeom>
          <a:solidFill>
            <a:srgbClr val="92D050"/>
          </a:solidFill>
        </p:spPr>
      </p:pic>
      <p:sp>
        <p:nvSpPr>
          <p:cNvPr id="17468" name="Text 32">
            <a:extLst>
              <a:ext uri="{FF2B5EF4-FFF2-40B4-BE49-F238E27FC236}">
                <a16:creationId xmlns:a16="http://schemas.microsoft.com/office/drawing/2014/main" id="{9FD51A34-F179-D287-FA50-761FCCB89FC8}"/>
              </a:ext>
            </a:extLst>
          </p:cNvPr>
          <p:cNvSpPr/>
          <p:nvPr/>
        </p:nvSpPr>
        <p:spPr>
          <a:xfrm>
            <a:off x="6469889" y="1536001"/>
            <a:ext cx="2724505" cy="1085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1273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579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analytical layers</a:t>
            </a:r>
          </a:p>
          <a:p>
            <a:pPr marL="171450" indent="-171450">
              <a:lnSpc>
                <a:spcPts val="1273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579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identifies recurring delay patterns</a:t>
            </a:r>
          </a:p>
          <a:p>
            <a:pPr marL="171450" indent="-171450">
              <a:lnSpc>
                <a:spcPts val="1273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579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sections operational congestion</a:t>
            </a:r>
          </a:p>
          <a:p>
            <a:pPr marL="171450" indent="-171450">
              <a:lnSpc>
                <a:spcPts val="1273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579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delay behavior affecting train movement</a:t>
            </a:r>
            <a:endParaRPr lang="en-US" sz="1200" dirty="0"/>
          </a:p>
        </p:txBody>
      </p:sp>
      <p:sp>
        <p:nvSpPr>
          <p:cNvPr id="17469" name="Shape 33">
            <a:extLst>
              <a:ext uri="{FF2B5EF4-FFF2-40B4-BE49-F238E27FC236}">
                <a16:creationId xmlns:a16="http://schemas.microsoft.com/office/drawing/2014/main" id="{78C586C9-46E2-AD79-C484-AE53B0AECAE4}"/>
              </a:ext>
            </a:extLst>
          </p:cNvPr>
          <p:cNvSpPr/>
          <p:nvPr/>
        </p:nvSpPr>
        <p:spPr>
          <a:xfrm>
            <a:off x="3374746" y="1458219"/>
            <a:ext cx="2880563" cy="2503190"/>
          </a:xfrm>
          <a:prstGeom prst="roundRect">
            <a:avLst>
              <a:gd name="adj" fmla="val 3495"/>
            </a:avLst>
          </a:prstGeom>
          <a:solidFill>
            <a:srgbClr val="F7F7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70" name="Shape 34">
            <a:extLst>
              <a:ext uri="{FF2B5EF4-FFF2-40B4-BE49-F238E27FC236}">
                <a16:creationId xmlns:a16="http://schemas.microsoft.com/office/drawing/2014/main" id="{1F6376BF-E49B-9DF8-5B72-F4D8D1E9B809}"/>
              </a:ext>
            </a:extLst>
          </p:cNvPr>
          <p:cNvSpPr/>
          <p:nvPr/>
        </p:nvSpPr>
        <p:spPr>
          <a:xfrm>
            <a:off x="3485287" y="2414104"/>
            <a:ext cx="2652979" cy="1515059"/>
          </a:xfrm>
          <a:prstGeom prst="roundRect">
            <a:avLst>
              <a:gd name="adj" fmla="val 3541"/>
            </a:avLst>
          </a:prstGeom>
          <a:solidFill>
            <a:srgbClr val="EFE9FD"/>
          </a:solidFill>
          <a:ln w="9525">
            <a:solidFill>
              <a:srgbClr val="CFBD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471" name="Image 50" descr="preencoded.png">
            <a:extLst>
              <a:ext uri="{FF2B5EF4-FFF2-40B4-BE49-F238E27FC236}">
                <a16:creationId xmlns:a16="http://schemas.microsoft.com/office/drawing/2014/main" id="{B2B145EF-2F0A-1814-818A-41AA1E54799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615335" y="3706190"/>
            <a:ext cx="188570" cy="195072"/>
          </a:xfrm>
          <a:prstGeom prst="rect">
            <a:avLst/>
          </a:prstGeom>
        </p:spPr>
      </p:pic>
      <p:pic>
        <p:nvPicPr>
          <p:cNvPr id="17472" name="Image 51" descr="preencoded.png">
            <a:extLst>
              <a:ext uri="{FF2B5EF4-FFF2-40B4-BE49-F238E27FC236}">
                <a16:creationId xmlns:a16="http://schemas.microsoft.com/office/drawing/2014/main" id="{7AEBE789-2C35-EE26-FEC4-1EE022325C3C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615335" y="3428714"/>
            <a:ext cx="182067" cy="201574"/>
          </a:xfrm>
          <a:prstGeom prst="rect">
            <a:avLst/>
          </a:prstGeom>
        </p:spPr>
      </p:pic>
      <p:pic>
        <p:nvPicPr>
          <p:cNvPr id="17473" name="Image 52" descr="preencoded.png">
            <a:extLst>
              <a:ext uri="{FF2B5EF4-FFF2-40B4-BE49-F238E27FC236}">
                <a16:creationId xmlns:a16="http://schemas.microsoft.com/office/drawing/2014/main" id="{272386DB-46CA-8869-27A4-7ABCF9BA3DE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608833" y="3174885"/>
            <a:ext cx="201574" cy="162560"/>
          </a:xfrm>
          <a:prstGeom prst="rect">
            <a:avLst/>
          </a:prstGeom>
        </p:spPr>
      </p:pic>
      <p:pic>
        <p:nvPicPr>
          <p:cNvPr id="17474" name="Image 53" descr="preencoded.png">
            <a:extLst>
              <a:ext uri="{FF2B5EF4-FFF2-40B4-BE49-F238E27FC236}">
                <a16:creationId xmlns:a16="http://schemas.microsoft.com/office/drawing/2014/main" id="{581248AC-AEEF-68AA-6E02-3F8743B7C089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615335" y="2895250"/>
            <a:ext cx="188570" cy="175565"/>
          </a:xfrm>
          <a:prstGeom prst="rect">
            <a:avLst/>
          </a:prstGeom>
        </p:spPr>
      </p:pic>
      <p:pic>
        <p:nvPicPr>
          <p:cNvPr id="17475" name="Image 54" descr="preencoded.png">
            <a:extLst>
              <a:ext uri="{FF2B5EF4-FFF2-40B4-BE49-F238E27FC236}">
                <a16:creationId xmlns:a16="http://schemas.microsoft.com/office/drawing/2014/main" id="{393B6AB5-BB76-9771-2231-080C39C73E6A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08832" y="2612278"/>
            <a:ext cx="195072" cy="195072"/>
          </a:xfrm>
          <a:prstGeom prst="rect">
            <a:avLst/>
          </a:prstGeom>
        </p:spPr>
      </p:pic>
      <p:sp>
        <p:nvSpPr>
          <p:cNvPr id="17480" name="Text 39">
            <a:extLst>
              <a:ext uri="{FF2B5EF4-FFF2-40B4-BE49-F238E27FC236}">
                <a16:creationId xmlns:a16="http://schemas.microsoft.com/office/drawing/2014/main" id="{45A6CB96-4708-E505-FDD1-AE26AE942EF0}"/>
              </a:ext>
            </a:extLst>
          </p:cNvPr>
          <p:cNvSpPr/>
          <p:nvPr/>
        </p:nvSpPr>
        <p:spPr>
          <a:xfrm>
            <a:off x="3914445" y="2675058"/>
            <a:ext cx="2165300" cy="1099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7463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route delays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766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delay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7A6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Congestion in the section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766B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risk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776A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relevant model features</a:t>
            </a:r>
            <a:endParaRPr lang="en-US" sz="1200" dirty="0"/>
          </a:p>
        </p:txBody>
      </p:sp>
      <p:sp>
        <p:nvSpPr>
          <p:cNvPr id="17481" name="Text 40">
            <a:extLst>
              <a:ext uri="{FF2B5EF4-FFF2-40B4-BE49-F238E27FC236}">
                <a16:creationId xmlns:a16="http://schemas.microsoft.com/office/drawing/2014/main" id="{891658D2-5B8E-03E9-363E-9FCE3B4B12B1}"/>
              </a:ext>
            </a:extLst>
          </p:cNvPr>
          <p:cNvSpPr/>
          <p:nvPr/>
        </p:nvSpPr>
        <p:spPr>
          <a:xfrm>
            <a:off x="3543809" y="2445413"/>
            <a:ext cx="2437891" cy="195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70"/>
              </a:lnSpc>
            </a:pPr>
            <a:r>
              <a:rPr lang="en-US" sz="1200" b="1" dirty="0">
                <a:solidFill>
                  <a:srgbClr val="835D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explainability layer</a:t>
            </a:r>
            <a:endParaRPr lang="en-US" sz="1200" dirty="0"/>
          </a:p>
        </p:txBody>
      </p:sp>
      <p:pic>
        <p:nvPicPr>
          <p:cNvPr id="17482" name="Image 55" descr="preencoded.png">
            <a:extLst>
              <a:ext uri="{FF2B5EF4-FFF2-40B4-BE49-F238E27FC236}">
                <a16:creationId xmlns:a16="http://schemas.microsoft.com/office/drawing/2014/main" id="{55674E04-05A8-4D65-9769-C3264C84CF0A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368244" y="1113593"/>
            <a:ext cx="2893568" cy="468173"/>
          </a:xfrm>
          <a:prstGeom prst="rect">
            <a:avLst/>
          </a:prstGeom>
        </p:spPr>
      </p:pic>
      <p:sp>
        <p:nvSpPr>
          <p:cNvPr id="17485" name="Text 42">
            <a:extLst>
              <a:ext uri="{FF2B5EF4-FFF2-40B4-BE49-F238E27FC236}">
                <a16:creationId xmlns:a16="http://schemas.microsoft.com/office/drawing/2014/main" id="{B3A6549A-1BB3-4C8B-D82E-C730B7864158}"/>
              </a:ext>
            </a:extLst>
          </p:cNvPr>
          <p:cNvSpPr/>
          <p:nvPr/>
        </p:nvSpPr>
        <p:spPr>
          <a:xfrm>
            <a:off x="3426765" y="1568760"/>
            <a:ext cx="2828544" cy="842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F7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Station staff can access ETA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5F7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predictions and explanations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F7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relying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5F7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static schedules or raw delay information</a:t>
            </a:r>
            <a:endParaRPr lang="en-US" sz="1200" dirty="0"/>
          </a:p>
        </p:txBody>
      </p:sp>
      <p:pic>
        <p:nvPicPr>
          <p:cNvPr id="17486" name="Image 57" descr="preencoded.png">
            <a:extLst>
              <a:ext uri="{FF2B5EF4-FFF2-40B4-BE49-F238E27FC236}">
                <a16:creationId xmlns:a16="http://schemas.microsoft.com/office/drawing/2014/main" id="{400F4763-776B-DDB8-08F0-C5577A0C389E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1034" y="1555756"/>
            <a:ext cx="3186176" cy="2379878"/>
          </a:xfrm>
          <a:prstGeom prst="rect">
            <a:avLst/>
          </a:prstGeom>
        </p:spPr>
      </p:pic>
      <p:sp>
        <p:nvSpPr>
          <p:cNvPr id="17487" name="Shape 43">
            <a:extLst>
              <a:ext uri="{FF2B5EF4-FFF2-40B4-BE49-F238E27FC236}">
                <a16:creationId xmlns:a16="http://schemas.microsoft.com/office/drawing/2014/main" id="{0825DF99-4CEB-F908-D5A8-2F8B1CFB9882}"/>
              </a:ext>
            </a:extLst>
          </p:cNvPr>
          <p:cNvSpPr/>
          <p:nvPr/>
        </p:nvSpPr>
        <p:spPr>
          <a:xfrm>
            <a:off x="201575" y="2394565"/>
            <a:ext cx="2952090" cy="1424025"/>
          </a:xfrm>
          <a:prstGeom prst="roundRect">
            <a:avLst>
              <a:gd name="adj" fmla="val 2597"/>
            </a:avLst>
          </a:prstGeom>
          <a:solidFill>
            <a:srgbClr val="DEF4FD"/>
          </a:solidFill>
          <a:ln w="9525">
            <a:solidFill>
              <a:srgbClr val="85D8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488" name="Image 58" descr="preencoded.png">
            <a:extLst>
              <a:ext uri="{FF2B5EF4-FFF2-40B4-BE49-F238E27FC236}">
                <a16:creationId xmlns:a16="http://schemas.microsoft.com/office/drawing/2014/main" id="{D250A99E-7A40-3D84-F399-9C2D79987CCF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801165" y="3611121"/>
            <a:ext cx="188570" cy="182067"/>
          </a:xfrm>
          <a:prstGeom prst="rect">
            <a:avLst/>
          </a:prstGeom>
        </p:spPr>
      </p:pic>
      <p:pic>
        <p:nvPicPr>
          <p:cNvPr id="17489" name="Image 59" descr="preencoded.png">
            <a:extLst>
              <a:ext uri="{FF2B5EF4-FFF2-40B4-BE49-F238E27FC236}">
                <a16:creationId xmlns:a16="http://schemas.microsoft.com/office/drawing/2014/main" id="{A11DB931-D015-C634-E581-78EA5400CD94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814170" y="3318513"/>
            <a:ext cx="156058" cy="208077"/>
          </a:xfrm>
          <a:prstGeom prst="rect">
            <a:avLst/>
          </a:prstGeom>
        </p:spPr>
      </p:pic>
      <p:pic>
        <p:nvPicPr>
          <p:cNvPr id="17490" name="Image 60" descr="preencoded.png">
            <a:extLst>
              <a:ext uri="{FF2B5EF4-FFF2-40B4-BE49-F238E27FC236}">
                <a16:creationId xmlns:a16="http://schemas.microsoft.com/office/drawing/2014/main" id="{6A1E28F0-A324-7A43-1FDA-2E850143B1D8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279603" y="3364030"/>
            <a:ext cx="208077" cy="195072"/>
          </a:xfrm>
          <a:prstGeom prst="rect">
            <a:avLst/>
          </a:prstGeom>
        </p:spPr>
      </p:pic>
      <p:pic>
        <p:nvPicPr>
          <p:cNvPr id="17491" name="Image 61" descr="preencoded.png">
            <a:extLst>
              <a:ext uri="{FF2B5EF4-FFF2-40B4-BE49-F238E27FC236}">
                <a16:creationId xmlns:a16="http://schemas.microsoft.com/office/drawing/2014/main" id="{E274E5EA-588A-23EA-AE9F-E7F5304F7033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794663" y="3051915"/>
            <a:ext cx="188570" cy="195072"/>
          </a:xfrm>
          <a:prstGeom prst="rect">
            <a:avLst/>
          </a:prstGeom>
        </p:spPr>
      </p:pic>
      <p:pic>
        <p:nvPicPr>
          <p:cNvPr id="17492" name="Image 62" descr="preencoded.png">
            <a:extLst>
              <a:ext uri="{FF2B5EF4-FFF2-40B4-BE49-F238E27FC236}">
                <a16:creationId xmlns:a16="http://schemas.microsoft.com/office/drawing/2014/main" id="{10EA6710-064B-DD99-792D-F0CE1F0DCF9F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651610" y="2902360"/>
            <a:ext cx="13005" cy="962355"/>
          </a:xfrm>
          <a:prstGeom prst="rect">
            <a:avLst/>
          </a:prstGeom>
        </p:spPr>
      </p:pic>
      <p:pic>
        <p:nvPicPr>
          <p:cNvPr id="17493" name="Image 63" descr="preencoded.png">
            <a:extLst>
              <a:ext uri="{FF2B5EF4-FFF2-40B4-BE49-F238E27FC236}">
                <a16:creationId xmlns:a16="http://schemas.microsoft.com/office/drawing/2014/main" id="{6B247E2E-F3E7-CEF2-B04D-AE0482E281D3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279604" y="3058418"/>
            <a:ext cx="214579" cy="214579"/>
          </a:xfrm>
          <a:prstGeom prst="rect">
            <a:avLst/>
          </a:prstGeom>
        </p:spPr>
      </p:pic>
      <p:pic>
        <p:nvPicPr>
          <p:cNvPr id="17494" name="Image 64" descr="preencoded.png">
            <a:extLst>
              <a:ext uri="{FF2B5EF4-FFF2-40B4-BE49-F238E27FC236}">
                <a16:creationId xmlns:a16="http://schemas.microsoft.com/office/drawing/2014/main" id="{0DB40649-E157-E4B9-8820-9B4EEA22A60B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794663" y="2746302"/>
            <a:ext cx="182067" cy="221082"/>
          </a:xfrm>
          <a:prstGeom prst="rect">
            <a:avLst/>
          </a:prstGeom>
        </p:spPr>
      </p:pic>
      <p:pic>
        <p:nvPicPr>
          <p:cNvPr id="17495" name="Image 65" descr="preencoded.png">
            <a:extLst>
              <a:ext uri="{FF2B5EF4-FFF2-40B4-BE49-F238E27FC236}">
                <a16:creationId xmlns:a16="http://schemas.microsoft.com/office/drawing/2014/main" id="{96A1771C-6366-1591-E0A8-5C90D8E02C90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299111" y="2746302"/>
            <a:ext cx="175565" cy="240589"/>
          </a:xfrm>
          <a:prstGeom prst="rect">
            <a:avLst/>
          </a:prstGeom>
        </p:spPr>
      </p:pic>
      <p:sp>
        <p:nvSpPr>
          <p:cNvPr id="17496" name="Text 44">
            <a:extLst>
              <a:ext uri="{FF2B5EF4-FFF2-40B4-BE49-F238E27FC236}">
                <a16:creationId xmlns:a16="http://schemas.microsoft.com/office/drawing/2014/main" id="{C4D96C0B-52F1-5F77-8CC1-0D8CB151A4FA}"/>
              </a:ext>
            </a:extLst>
          </p:cNvPr>
          <p:cNvSpPr/>
          <p:nvPr/>
        </p:nvSpPr>
        <p:spPr>
          <a:xfrm>
            <a:off x="2080767" y="3624126"/>
            <a:ext cx="919305" cy="143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81"/>
              </a:lnSpc>
            </a:pPr>
            <a:r>
              <a:rPr lang="en-US" sz="1200" dirty="0">
                <a:solidFill>
                  <a:srgbClr val="598D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 ETA</a:t>
            </a:r>
            <a:endParaRPr lang="en-US" sz="1200" dirty="0"/>
          </a:p>
        </p:txBody>
      </p:sp>
      <p:sp>
        <p:nvSpPr>
          <p:cNvPr id="17497" name="Text 45">
            <a:extLst>
              <a:ext uri="{FF2B5EF4-FFF2-40B4-BE49-F238E27FC236}">
                <a16:creationId xmlns:a16="http://schemas.microsoft.com/office/drawing/2014/main" id="{2E84E2A0-CADB-1536-9DFD-B1B9EF3A8943}"/>
              </a:ext>
            </a:extLst>
          </p:cNvPr>
          <p:cNvSpPr/>
          <p:nvPr/>
        </p:nvSpPr>
        <p:spPr>
          <a:xfrm>
            <a:off x="2080769" y="3338020"/>
            <a:ext cx="1020428" cy="143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761"/>
              </a:lnSpc>
            </a:pPr>
            <a:r>
              <a:rPr lang="en-US" sz="1200" dirty="0">
                <a:solidFill>
                  <a:srgbClr val="578A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position</a:t>
            </a:r>
            <a:endParaRPr lang="en-US" sz="1200" dirty="0"/>
          </a:p>
        </p:txBody>
      </p:sp>
      <p:sp>
        <p:nvSpPr>
          <p:cNvPr id="17498" name="Text 46">
            <a:extLst>
              <a:ext uri="{FF2B5EF4-FFF2-40B4-BE49-F238E27FC236}">
                <a16:creationId xmlns:a16="http://schemas.microsoft.com/office/drawing/2014/main" id="{A3C27C35-8AEB-B561-66A6-A2CFCA11F8A0}"/>
              </a:ext>
            </a:extLst>
          </p:cNvPr>
          <p:cNvSpPr/>
          <p:nvPr/>
        </p:nvSpPr>
        <p:spPr>
          <a:xfrm>
            <a:off x="2080769" y="3058417"/>
            <a:ext cx="1332992" cy="143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73"/>
              </a:lnSpc>
            </a:pPr>
            <a:r>
              <a:rPr lang="en-US" sz="1200" dirty="0">
                <a:solidFill>
                  <a:srgbClr val="578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factors</a:t>
            </a:r>
            <a:endParaRPr lang="en-US" sz="1200" dirty="0"/>
          </a:p>
        </p:txBody>
      </p:sp>
      <p:sp>
        <p:nvSpPr>
          <p:cNvPr id="17499" name="Text 47">
            <a:extLst>
              <a:ext uri="{FF2B5EF4-FFF2-40B4-BE49-F238E27FC236}">
                <a16:creationId xmlns:a16="http://schemas.microsoft.com/office/drawing/2014/main" id="{8E5AC4F2-49A8-8FDD-21D0-4640B46D60A8}"/>
              </a:ext>
            </a:extLst>
          </p:cNvPr>
          <p:cNvSpPr/>
          <p:nvPr/>
        </p:nvSpPr>
        <p:spPr>
          <a:xfrm>
            <a:off x="2074266" y="2778814"/>
            <a:ext cx="808988" cy="13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694"/>
              </a:lnSpc>
            </a:pPr>
            <a:r>
              <a:rPr lang="en-US" sz="1200" dirty="0">
                <a:solidFill>
                  <a:srgbClr val="5485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17500" name="Text 48">
            <a:extLst>
              <a:ext uri="{FF2B5EF4-FFF2-40B4-BE49-F238E27FC236}">
                <a16:creationId xmlns:a16="http://schemas.microsoft.com/office/drawing/2014/main" id="{B27036CF-D230-CD7D-D1A3-8D68D2BAFA4E}"/>
              </a:ext>
            </a:extLst>
          </p:cNvPr>
          <p:cNvSpPr/>
          <p:nvPr/>
        </p:nvSpPr>
        <p:spPr>
          <a:xfrm>
            <a:off x="585215" y="3409547"/>
            <a:ext cx="404495" cy="143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870"/>
              </a:lnSpc>
            </a:pPr>
            <a:r>
              <a:rPr lang="en-US" sz="1200" dirty="0">
                <a:solidFill>
                  <a:srgbClr val="4C81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</a:t>
            </a:r>
            <a:endParaRPr lang="en-US" sz="1200" dirty="0"/>
          </a:p>
        </p:txBody>
      </p:sp>
      <p:sp>
        <p:nvSpPr>
          <p:cNvPr id="17501" name="Text 49">
            <a:extLst>
              <a:ext uri="{FF2B5EF4-FFF2-40B4-BE49-F238E27FC236}">
                <a16:creationId xmlns:a16="http://schemas.microsoft.com/office/drawing/2014/main" id="{F87C3652-3AEB-EDBE-DABA-3B329E051470}"/>
              </a:ext>
            </a:extLst>
          </p:cNvPr>
          <p:cNvSpPr/>
          <p:nvPr/>
        </p:nvSpPr>
        <p:spPr>
          <a:xfrm>
            <a:off x="585216" y="3097431"/>
            <a:ext cx="1149131" cy="143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941"/>
              </a:lnSpc>
            </a:pPr>
            <a:r>
              <a:rPr lang="en-US" sz="1200" dirty="0">
                <a:solidFill>
                  <a:srgbClr val="5386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arrival</a:t>
            </a:r>
            <a:endParaRPr lang="en-US" sz="1200" dirty="0"/>
          </a:p>
        </p:txBody>
      </p:sp>
      <p:sp>
        <p:nvSpPr>
          <p:cNvPr id="17502" name="Text 50">
            <a:extLst>
              <a:ext uri="{FF2B5EF4-FFF2-40B4-BE49-F238E27FC236}">
                <a16:creationId xmlns:a16="http://schemas.microsoft.com/office/drawing/2014/main" id="{C3508FE9-ED92-F1E4-0211-B9317133342A}"/>
              </a:ext>
            </a:extLst>
          </p:cNvPr>
          <p:cNvSpPr/>
          <p:nvPr/>
        </p:nvSpPr>
        <p:spPr>
          <a:xfrm>
            <a:off x="585215" y="2785316"/>
            <a:ext cx="1378957" cy="13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717"/>
              </a:lnSpc>
            </a:pPr>
            <a:r>
              <a:rPr lang="en-US" sz="1200" dirty="0">
                <a:solidFill>
                  <a:srgbClr val="558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status</a:t>
            </a:r>
            <a:endParaRPr lang="en-US" sz="1200" dirty="0"/>
          </a:p>
        </p:txBody>
      </p:sp>
      <p:sp>
        <p:nvSpPr>
          <p:cNvPr id="17503" name="Text 51">
            <a:extLst>
              <a:ext uri="{FF2B5EF4-FFF2-40B4-BE49-F238E27FC236}">
                <a16:creationId xmlns:a16="http://schemas.microsoft.com/office/drawing/2014/main" id="{3B92DB0A-65E8-E649-47A8-D8AEECCB4B6F}"/>
              </a:ext>
            </a:extLst>
          </p:cNvPr>
          <p:cNvSpPr/>
          <p:nvPr/>
        </p:nvSpPr>
        <p:spPr>
          <a:xfrm>
            <a:off x="266599" y="2440728"/>
            <a:ext cx="2602436" cy="266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753"/>
              </a:lnSpc>
            </a:pPr>
            <a:r>
              <a:rPr lang="en-US" sz="1400" b="1" dirty="0">
                <a:solidFill>
                  <a:srgbClr val="4279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dashboard can show:</a:t>
            </a:r>
            <a:endParaRPr lang="en-US" sz="1400" dirty="0"/>
          </a:p>
        </p:txBody>
      </p:sp>
      <p:pic>
        <p:nvPicPr>
          <p:cNvPr id="17504" name="Image 66" descr="preencoded.png">
            <a:extLst>
              <a:ext uri="{FF2B5EF4-FFF2-40B4-BE49-F238E27FC236}">
                <a16:creationId xmlns:a16="http://schemas.microsoft.com/office/drawing/2014/main" id="{1C3206A9-6BD6-FC15-C410-8E049D4F99E9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7537" y="1120096"/>
            <a:ext cx="3166669" cy="461670"/>
          </a:xfrm>
          <a:prstGeom prst="rect">
            <a:avLst/>
          </a:prstGeom>
        </p:spPr>
      </p:pic>
      <p:sp>
        <p:nvSpPr>
          <p:cNvPr id="17507" name="Text 53">
            <a:extLst>
              <a:ext uri="{FF2B5EF4-FFF2-40B4-BE49-F238E27FC236}">
                <a16:creationId xmlns:a16="http://schemas.microsoft.com/office/drawing/2014/main" id="{805AB126-815C-E3B3-6B85-4119D384B8B1}"/>
              </a:ext>
            </a:extLst>
          </p:cNvPr>
          <p:cNvSpPr/>
          <p:nvPr/>
        </p:nvSpPr>
        <p:spPr>
          <a:xfrm>
            <a:off x="201574" y="1639007"/>
            <a:ext cx="2952091" cy="723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57B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Passengers receive more realistic &amp; dynamically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557B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 ETAs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57B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Reducing uncertainty about train arrival at upcoming stations.</a:t>
            </a:r>
            <a:endParaRPr lang="en-US" sz="1200" dirty="0"/>
          </a:p>
        </p:txBody>
      </p:sp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FA3ADD42-9058-2B5A-3680-32E81CA3DD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01353"/>
            <a:ext cx="135509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SteamX</a:t>
            </a: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941665F-ED34-F8B3-D374-A3D3DCAD14EF}"/>
              </a:ext>
            </a:extLst>
          </p:cNvPr>
          <p:cNvSpPr/>
          <p:nvPr/>
        </p:nvSpPr>
        <p:spPr>
          <a:xfrm>
            <a:off x="100788" y="4052678"/>
            <a:ext cx="2861055" cy="422656"/>
          </a:xfrm>
          <a:prstGeom prst="roundRect">
            <a:avLst/>
          </a:prstGeom>
          <a:solidFill>
            <a:srgbClr val="037EE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437" name="Image 32" descr="preencoded.png">
            <a:extLst>
              <a:ext uri="{FF2B5EF4-FFF2-40B4-BE49-F238E27FC236}">
                <a16:creationId xmlns:a16="http://schemas.microsoft.com/office/drawing/2014/main" id="{46684AFE-32E1-9532-1A12-80FF16B7F567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292608" y="4040558"/>
            <a:ext cx="448665" cy="448665"/>
          </a:xfrm>
          <a:prstGeom prst="rect">
            <a:avLst/>
          </a:prstGeom>
        </p:spPr>
      </p:pic>
      <p:sp>
        <p:nvSpPr>
          <p:cNvPr id="17436" name="Text 18">
            <a:extLst>
              <a:ext uri="{FF2B5EF4-FFF2-40B4-BE49-F238E27FC236}">
                <a16:creationId xmlns:a16="http://schemas.microsoft.com/office/drawing/2014/main" id="{E61C3D1A-EEE6-4A17-2304-EC6982D27F62}"/>
              </a:ext>
            </a:extLst>
          </p:cNvPr>
          <p:cNvSpPr/>
          <p:nvPr/>
        </p:nvSpPr>
        <p:spPr>
          <a:xfrm>
            <a:off x="962355" y="4195730"/>
            <a:ext cx="1261466" cy="201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08"/>
              </a:lnSpc>
            </a:pPr>
            <a:r>
              <a:rPr lang="en-US" sz="14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Benefits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D854F4-8A59-CEC4-7E3D-A27A2472BFF1}"/>
              </a:ext>
            </a:extLst>
          </p:cNvPr>
          <p:cNvSpPr/>
          <p:nvPr/>
        </p:nvSpPr>
        <p:spPr>
          <a:xfrm>
            <a:off x="91034" y="1116011"/>
            <a:ext cx="3173172" cy="465755"/>
          </a:xfrm>
          <a:prstGeom prst="roundRect">
            <a:avLst/>
          </a:prstGeom>
          <a:solidFill>
            <a:srgbClr val="037EE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05" name="Text 52">
            <a:extLst>
              <a:ext uri="{FF2B5EF4-FFF2-40B4-BE49-F238E27FC236}">
                <a16:creationId xmlns:a16="http://schemas.microsoft.com/office/drawing/2014/main" id="{6F24F10F-17FD-DF6B-8B30-DB2FE6B8B8CE}"/>
              </a:ext>
            </a:extLst>
          </p:cNvPr>
          <p:cNvSpPr/>
          <p:nvPr/>
        </p:nvSpPr>
        <p:spPr>
          <a:xfrm>
            <a:off x="968858" y="1269649"/>
            <a:ext cx="1131418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49"/>
              </a:lnSpc>
            </a:pPr>
            <a:r>
              <a:rPr lang="en-US" sz="14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Passengers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7506" name="Image 67" descr="preencoded.png">
            <a:extLst>
              <a:ext uri="{FF2B5EF4-FFF2-40B4-BE49-F238E27FC236}">
                <a16:creationId xmlns:a16="http://schemas.microsoft.com/office/drawing/2014/main" id="{50D20CA1-6462-FB07-E79D-5D7AF1752497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214580" y="1133100"/>
            <a:ext cx="524344" cy="46488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D89F1BB-58C3-C066-08DD-9467C9A7F76F}"/>
              </a:ext>
            </a:extLst>
          </p:cNvPr>
          <p:cNvSpPr/>
          <p:nvPr/>
        </p:nvSpPr>
        <p:spPr>
          <a:xfrm>
            <a:off x="3374746" y="1114823"/>
            <a:ext cx="2880563" cy="465755"/>
          </a:xfrm>
          <a:prstGeom prst="roundRect">
            <a:avLst/>
          </a:prstGeom>
          <a:solidFill>
            <a:srgbClr val="7463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83" name="Text 41">
            <a:extLst>
              <a:ext uri="{FF2B5EF4-FFF2-40B4-BE49-F238E27FC236}">
                <a16:creationId xmlns:a16="http://schemas.microsoft.com/office/drawing/2014/main" id="{75668B35-555E-9BB9-F790-CF25CA59A604}"/>
              </a:ext>
            </a:extLst>
          </p:cNvPr>
          <p:cNvSpPr/>
          <p:nvPr/>
        </p:nvSpPr>
        <p:spPr>
          <a:xfrm>
            <a:off x="4181043" y="1250142"/>
            <a:ext cx="1248461" cy="24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85"/>
              </a:lnSpc>
            </a:pPr>
            <a:r>
              <a:rPr lang="en-US" sz="14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Station Staff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7484" name="Image 56" descr="preencoded.png">
            <a:extLst>
              <a:ext uri="{FF2B5EF4-FFF2-40B4-BE49-F238E27FC236}">
                <a16:creationId xmlns:a16="http://schemas.microsoft.com/office/drawing/2014/main" id="{AB55E33C-AAE9-CF24-2844-3295ADA536F3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3537224" y="1126597"/>
            <a:ext cx="481099" cy="48109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BD23117-4C8E-76E7-EA2B-F42749B1E90E}"/>
              </a:ext>
            </a:extLst>
          </p:cNvPr>
          <p:cNvSpPr/>
          <p:nvPr/>
        </p:nvSpPr>
        <p:spPr>
          <a:xfrm>
            <a:off x="3049625" y="4034537"/>
            <a:ext cx="2809039" cy="465755"/>
          </a:xfrm>
          <a:prstGeom prst="roundRect">
            <a:avLst/>
          </a:prstGeom>
          <a:solidFill>
            <a:srgbClr val="7463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D146D17-A55C-0635-4110-9BE930D843FC}"/>
              </a:ext>
            </a:extLst>
          </p:cNvPr>
          <p:cNvSpPr/>
          <p:nvPr/>
        </p:nvSpPr>
        <p:spPr>
          <a:xfrm>
            <a:off x="8810753" y="4032352"/>
            <a:ext cx="3309721" cy="465755"/>
          </a:xfrm>
          <a:prstGeom prst="roundRect">
            <a:avLst/>
          </a:prstGeom>
          <a:solidFill>
            <a:srgbClr val="72BF9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A1C2AF4-746E-0815-3025-9DF40643E951}"/>
              </a:ext>
            </a:extLst>
          </p:cNvPr>
          <p:cNvSpPr/>
          <p:nvPr/>
        </p:nvSpPr>
        <p:spPr>
          <a:xfrm>
            <a:off x="6352845" y="1120096"/>
            <a:ext cx="2857804" cy="465755"/>
          </a:xfrm>
          <a:prstGeom prst="roundRect">
            <a:avLst/>
          </a:prstGeom>
          <a:solidFill>
            <a:srgbClr val="6BD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9AFA682-C167-43C8-C5FC-54353AD8A1D9}"/>
              </a:ext>
            </a:extLst>
          </p:cNvPr>
          <p:cNvSpPr/>
          <p:nvPr/>
        </p:nvSpPr>
        <p:spPr>
          <a:xfrm>
            <a:off x="9285428" y="1109354"/>
            <a:ext cx="2825334" cy="517929"/>
          </a:xfrm>
          <a:prstGeom prst="roundRect">
            <a:avLst/>
          </a:prstGeom>
          <a:solidFill>
            <a:srgbClr val="F389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456" name="Image 41" descr="preencoded.png">
            <a:extLst>
              <a:ext uri="{FF2B5EF4-FFF2-40B4-BE49-F238E27FC236}">
                <a16:creationId xmlns:a16="http://schemas.microsoft.com/office/drawing/2014/main" id="{08AC50EB-C1B6-CE39-B983-8B802AD624F7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9467494" y="1140892"/>
            <a:ext cx="481099" cy="481099"/>
          </a:xfrm>
          <a:prstGeom prst="rect">
            <a:avLst/>
          </a:prstGeom>
        </p:spPr>
      </p:pic>
      <p:sp>
        <p:nvSpPr>
          <p:cNvPr id="17457" name="Text 29">
            <a:extLst>
              <a:ext uri="{FF2B5EF4-FFF2-40B4-BE49-F238E27FC236}">
                <a16:creationId xmlns:a16="http://schemas.microsoft.com/office/drawing/2014/main" id="{5590245E-389C-B41D-357F-656FECCA28CB}"/>
              </a:ext>
            </a:extLst>
          </p:cNvPr>
          <p:cNvSpPr/>
          <p:nvPr/>
        </p:nvSpPr>
        <p:spPr>
          <a:xfrm>
            <a:off x="10137242" y="1152607"/>
            <a:ext cx="1950720" cy="435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58"/>
              </a:lnSpc>
            </a:pPr>
            <a:r>
              <a:rPr lang="en-US" sz="14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Downstream Logistics &amp; Connected Services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7466" name="Image 49" descr="preencoded.png">
            <a:extLst>
              <a:ext uri="{FF2B5EF4-FFF2-40B4-BE49-F238E27FC236}">
                <a16:creationId xmlns:a16="http://schemas.microsoft.com/office/drawing/2014/main" id="{C0DE2E7F-0D51-25C0-0346-66A4F5904B4E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541414" y="1139603"/>
            <a:ext cx="464882" cy="470288"/>
          </a:xfrm>
          <a:prstGeom prst="rect">
            <a:avLst/>
          </a:prstGeom>
        </p:spPr>
      </p:pic>
      <p:sp>
        <p:nvSpPr>
          <p:cNvPr id="17467" name="Text 31">
            <a:extLst>
              <a:ext uri="{FF2B5EF4-FFF2-40B4-BE49-F238E27FC236}">
                <a16:creationId xmlns:a16="http://schemas.microsoft.com/office/drawing/2014/main" id="{C8B1A9D0-932F-92EB-ADAE-287FB42A9D6C}"/>
              </a:ext>
            </a:extLst>
          </p:cNvPr>
          <p:cNvSpPr/>
          <p:nvPr/>
        </p:nvSpPr>
        <p:spPr>
          <a:xfrm>
            <a:off x="7217665" y="1230636"/>
            <a:ext cx="1801165" cy="2796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83"/>
              </a:lnSpc>
            </a:pPr>
            <a:r>
              <a:rPr lang="en-US" sz="14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Railway Operations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95CEDDE-994D-8077-F4C7-61758FD4C27E}"/>
              </a:ext>
            </a:extLst>
          </p:cNvPr>
          <p:cNvSpPr/>
          <p:nvPr/>
        </p:nvSpPr>
        <p:spPr>
          <a:xfrm>
            <a:off x="5962702" y="4040558"/>
            <a:ext cx="2750515" cy="455168"/>
          </a:xfrm>
          <a:prstGeom prst="roundRect">
            <a:avLst/>
          </a:prstGeom>
          <a:solidFill>
            <a:srgbClr val="6BDA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 49" descr="preencoded.png">
            <a:extLst>
              <a:ext uri="{FF2B5EF4-FFF2-40B4-BE49-F238E27FC236}">
                <a16:creationId xmlns:a16="http://schemas.microsoft.com/office/drawing/2014/main" id="{D3BAC246-33E0-D962-D3C4-278C6847A433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113353" y="4067703"/>
            <a:ext cx="464882" cy="470288"/>
          </a:xfrm>
          <a:prstGeom prst="rect">
            <a:avLst/>
          </a:prstGeom>
        </p:spPr>
      </p:pic>
      <p:sp>
        <p:nvSpPr>
          <p:cNvPr id="17408" name="Text 4">
            <a:extLst>
              <a:ext uri="{FF2B5EF4-FFF2-40B4-BE49-F238E27FC236}">
                <a16:creationId xmlns:a16="http://schemas.microsoft.com/office/drawing/2014/main" id="{19D05870-7C69-2A6D-7465-2CCF7A861232}"/>
              </a:ext>
            </a:extLst>
          </p:cNvPr>
          <p:cNvSpPr/>
          <p:nvPr/>
        </p:nvSpPr>
        <p:spPr>
          <a:xfrm>
            <a:off x="6742989" y="4150214"/>
            <a:ext cx="1742643" cy="247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76"/>
              </a:lnSpc>
            </a:pPr>
            <a:r>
              <a:rPr lang="en-US" sz="14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Benefits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424" name="Text 14">
            <a:extLst>
              <a:ext uri="{FF2B5EF4-FFF2-40B4-BE49-F238E27FC236}">
                <a16:creationId xmlns:a16="http://schemas.microsoft.com/office/drawing/2014/main" id="{493B8010-D3AB-E039-D1B2-28CF2ABD8C1F}"/>
              </a:ext>
            </a:extLst>
          </p:cNvPr>
          <p:cNvSpPr/>
          <p:nvPr/>
        </p:nvSpPr>
        <p:spPr>
          <a:xfrm>
            <a:off x="3901440" y="4182725"/>
            <a:ext cx="155407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124"/>
              </a:lnSpc>
            </a:pPr>
            <a:r>
              <a:rPr lang="en-US" sz="14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Economic Benefits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7425" name="Image 24" descr="preencoded.png">
            <a:extLst>
              <a:ext uri="{FF2B5EF4-FFF2-40B4-BE49-F238E27FC236}">
                <a16:creationId xmlns:a16="http://schemas.microsoft.com/office/drawing/2014/main" id="{8ED554F3-B1BB-AC0D-A637-404D2A795BE4}"/>
              </a:ext>
            </a:extLst>
      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3270707" y="4059180"/>
            <a:ext cx="437854" cy="437854"/>
          </a:xfrm>
          <a:prstGeom prst="rect">
            <a:avLst/>
          </a:prstGeom>
        </p:spPr>
      </p:pic>
      <p:sp>
        <p:nvSpPr>
          <p:cNvPr id="49" name="Text 1">
            <a:extLst>
              <a:ext uri="{FF2B5EF4-FFF2-40B4-BE49-F238E27FC236}">
                <a16:creationId xmlns:a16="http://schemas.microsoft.com/office/drawing/2014/main" id="{DFF3CAE2-85BE-71B5-33BC-CCB1372B5BE9}"/>
              </a:ext>
            </a:extLst>
          </p:cNvPr>
          <p:cNvSpPr/>
          <p:nvPr/>
        </p:nvSpPr>
        <p:spPr>
          <a:xfrm>
            <a:off x="9682074" y="4202232"/>
            <a:ext cx="2249830" cy="2015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075"/>
              </a:lnSpc>
            </a:pPr>
            <a:r>
              <a:rPr lang="en-US" sz="14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Environmental Benefits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50" name="Image 7" descr="preencoded.png">
            <a:extLst>
              <a:ext uri="{FF2B5EF4-FFF2-40B4-BE49-F238E27FC236}">
                <a16:creationId xmlns:a16="http://schemas.microsoft.com/office/drawing/2014/main" id="{12B5D864-D840-51F4-3245-404EFC23B446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9031834" y="4072185"/>
            <a:ext cx="443260" cy="4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7BCBC08-9631-8AB0-79ED-9703CCDB2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9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19B2242A-4469-BE05-69FF-61AD01CD4998}"/>
              </a:ext>
            </a:extLst>
          </p:cNvPr>
          <p:cNvSpPr txBox="1">
            <a:spLocks/>
          </p:cNvSpPr>
          <p:nvPr/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B729B836-D20D-2CC7-818F-40F5674D8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28" name="Footer Placeholder 6">
            <a:extLst>
              <a:ext uri="{FF2B5EF4-FFF2-40B4-BE49-F238E27FC236}">
                <a16:creationId xmlns:a16="http://schemas.microsoft.com/office/drawing/2014/main" id="{3B66FF3C-D471-287A-0BE4-D1BB9B4C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B36689D-F2FC-D752-4385-57DB74979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2" name="Shape 2">
            <a:extLst>
              <a:ext uri="{FF2B5EF4-FFF2-40B4-BE49-F238E27FC236}">
                <a16:creationId xmlns:a16="http://schemas.microsoft.com/office/drawing/2014/main" id="{C6C6163A-E1B4-C553-CE51-6AC4C761E593}"/>
              </a:ext>
            </a:extLst>
          </p:cNvPr>
          <p:cNvSpPr/>
          <p:nvPr/>
        </p:nvSpPr>
        <p:spPr>
          <a:xfrm>
            <a:off x="335280" y="976200"/>
            <a:ext cx="11247120" cy="1062337"/>
          </a:xfrm>
          <a:prstGeom prst="roundRect">
            <a:avLst>
              <a:gd name="adj" fmla="val 7619"/>
            </a:avLst>
          </a:prstGeom>
          <a:solidFill>
            <a:srgbClr val="FFA751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0BB6D6F6-E823-644E-CFD7-7FB35DDDA132}"/>
              </a:ext>
            </a:extLst>
          </p:cNvPr>
          <p:cNvSpPr/>
          <p:nvPr/>
        </p:nvSpPr>
        <p:spPr>
          <a:xfrm>
            <a:off x="679647" y="1067640"/>
            <a:ext cx="10698480" cy="343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documentation — GitHub Repository</a:t>
            </a:r>
            <a:endParaRPr lang="en-US" sz="160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146078F5-06B4-B700-8AD3-DC7EE7B7B26F}"/>
              </a:ext>
            </a:extLst>
          </p:cNvPr>
          <p:cNvSpPr/>
          <p:nvPr/>
        </p:nvSpPr>
        <p:spPr>
          <a:xfrm>
            <a:off x="679647" y="1401395"/>
            <a:ext cx="10698480" cy="303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0000FF"/>
                </a:solidFill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https://github.com/bbiswas99/ETA-for-Coaching-Trains</a:t>
            </a:r>
            <a:endParaRPr lang="en-US" sz="1400" u="sng" dirty="0">
              <a:solidFill>
                <a:srgbClr val="0000FF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C7BA7FDE-A876-F991-A302-7C95838002BF}"/>
              </a:ext>
            </a:extLst>
          </p:cNvPr>
          <p:cNvSpPr/>
          <p:nvPr/>
        </p:nvSpPr>
        <p:spPr>
          <a:xfrm>
            <a:off x="679647" y="1612638"/>
            <a:ext cx="10698480" cy="283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Contains “IR ETA Data Flow Analysis” and “IR ETA Prototype Technical Flow” — the complete 11-stage data flow, every join, every field-level transformation, and the full technology walkthrough that this deck summarizes.</a:t>
            </a:r>
            <a:endParaRPr 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DA116D-D72D-A269-EECA-7841D99DBD16}"/>
              </a:ext>
            </a:extLst>
          </p:cNvPr>
          <p:cNvSpPr txBox="1"/>
          <p:nvPr/>
        </p:nvSpPr>
        <p:spPr>
          <a:xfrm>
            <a:off x="204534" y="2096931"/>
            <a:ext cx="12091332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DATASETS USED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Historical data for ML-Model-A: </a:t>
            </a:r>
            <a:r>
              <a:rPr lang="en-US" sz="1000" dirty="0">
                <a:hlinkClick r:id="rId5"/>
              </a:rPr>
              <a:t>https://www.kaggle.com/datasets/rxydenxd/indian-railways-delay-dataset</a:t>
            </a:r>
            <a:endParaRPr lang="en-US" sz="10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Live data collection APIs for ML-Model-B </a:t>
            </a:r>
            <a:r>
              <a:rPr lang="en-US" sz="1000" dirty="0">
                <a:hlinkClick r:id="rId6"/>
              </a:rPr>
              <a:t>RailKit API</a:t>
            </a:r>
            <a:r>
              <a:rPr lang="en-US" sz="1000" dirty="0"/>
              <a:t>    </a:t>
            </a:r>
            <a:r>
              <a:rPr lang="en-US" sz="1000" dirty="0">
                <a:hlinkClick r:id="rId7"/>
              </a:rPr>
              <a:t>Indian Rail API</a:t>
            </a:r>
            <a:r>
              <a:rPr lang="en-US" sz="1000" dirty="0"/>
              <a:t>    </a:t>
            </a:r>
            <a:r>
              <a:rPr lang="en-US" sz="1000" dirty="0">
                <a:hlinkClick r:id="rId8"/>
              </a:rPr>
              <a:t>Indian Railway IRCTC</a:t>
            </a:r>
            <a:r>
              <a:rPr lang="en-US" sz="1000" dirty="0"/>
              <a:t> (Rapid API)    </a:t>
            </a:r>
            <a:r>
              <a:rPr lang="en-US" sz="1000" dirty="0">
                <a:hlinkClick r:id="rId9"/>
              </a:rPr>
              <a:t>IRCTC PNR Status on RapidAPI</a:t>
            </a:r>
            <a:endParaRPr lang="en-US" sz="1000" dirty="0"/>
          </a:p>
          <a:p>
            <a:r>
              <a:rPr lang="en-US" sz="1600" b="1" dirty="0"/>
              <a:t>ML MODLES USED</a:t>
            </a:r>
          </a:p>
          <a:p>
            <a:pPr marL="342900" indent="-342900">
              <a:buAutoNum type="arabicPeriod"/>
            </a:pPr>
            <a:r>
              <a:rPr lang="en-US" sz="1400" dirty="0"/>
              <a:t>LightGBM: </a:t>
            </a:r>
            <a:r>
              <a:rPr lang="en-US" sz="1000" dirty="0">
                <a:hlinkClick r:id="rId10"/>
              </a:rPr>
              <a:t>https://www.microsoft.com/en-us/research/project/lightgbm/</a:t>
            </a:r>
            <a:endParaRPr lang="en-US" sz="1000" dirty="0"/>
          </a:p>
          <a:p>
            <a:pPr marL="342900" indent="-342900">
              <a:buAutoNum type="arabicPeriod"/>
            </a:pPr>
            <a:r>
              <a:rPr lang="en-US" sz="1400" dirty="0"/>
              <a:t>XGBoost: </a:t>
            </a:r>
            <a:r>
              <a:rPr lang="en-US" sz="1000" dirty="0">
                <a:hlinkClick r:id="rId11"/>
              </a:rPr>
              <a:t>https://arxiv.org/abs/1603.02754</a:t>
            </a:r>
            <a:endParaRPr lang="en-US" sz="1000" dirty="0"/>
          </a:p>
          <a:p>
            <a:r>
              <a:rPr lang="en-US" sz="1600" b="1" dirty="0"/>
              <a:t>OPEN-SOURCE MAPS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OpenStreetMap(OSM): </a:t>
            </a:r>
            <a:r>
              <a:rPr lang="en-US" sz="1000" dirty="0">
                <a:hlinkClick r:id="rId12"/>
              </a:rPr>
              <a:t>https://www.openstreetmap.org/#map=7/28.623/77.877&amp;layers=T</a:t>
            </a:r>
            <a:endParaRPr lang="en-US" sz="10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OSM Overpass API: </a:t>
            </a:r>
            <a:r>
              <a:rPr lang="en-US" sz="1000" dirty="0">
                <a:hlinkClick r:id="rId13"/>
              </a:rPr>
              <a:t>https://wiki.openstreetmap.org/wiki/Overpass_API</a:t>
            </a:r>
            <a:endParaRPr lang="en-US" sz="10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OSM GeoFabric (world map downloadable file): </a:t>
            </a:r>
            <a:r>
              <a:rPr lang="en-US" sz="1000" dirty="0">
                <a:hlinkClick r:id="rId14"/>
              </a:rPr>
              <a:t>https://download.geofabrik.de/asia/india.html</a:t>
            </a:r>
            <a:endParaRPr lang="en-US" sz="1000" dirty="0"/>
          </a:p>
          <a:p>
            <a:r>
              <a:rPr lang="en-US" sz="1600" b="1" dirty="0"/>
              <a:t>RESEARCH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"</a:t>
            </a:r>
            <a:r>
              <a:rPr lang="en-US" sz="1400" b="1" dirty="0"/>
              <a:t>RSTGCN: Railway-centric </a:t>
            </a:r>
            <a:r>
              <a:rPr lang="en-US" sz="1400" b="1" dirty="0" err="1"/>
              <a:t>Spatio</a:t>
            </a:r>
            <a:r>
              <a:rPr lang="en-US" sz="1400" b="1" dirty="0"/>
              <a:t>-Temporal Graph Convolutional Network for Train Delay Prediction</a:t>
            </a:r>
            <a:r>
              <a:rPr lang="en-US" sz="1400" dirty="0"/>
              <a:t>.“ - Chowdhury, Koley, Chakraborty &amp; Ghosh (2025) </a:t>
            </a:r>
            <a:r>
              <a:rPr lang="en-US" sz="1000" dirty="0">
                <a:hlinkClick r:id="rId15"/>
              </a:rPr>
              <a:t>https://arxiv.org/abs/2510.01262</a:t>
            </a:r>
            <a:endParaRPr lang="en-US" sz="10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“</a:t>
            </a:r>
            <a:r>
              <a:rPr lang="en-US" sz="1400" b="1" dirty="0"/>
              <a:t>Press Release: RAILWAYS NOW TRACKS TRAINS VIA ISRO SATELLITE</a:t>
            </a:r>
            <a:r>
              <a:rPr lang="en-US" sz="1400" dirty="0"/>
              <a:t>”- Real-time Train Information System (RTIS): </a:t>
            </a:r>
            <a:r>
              <a:rPr lang="en-US" sz="1000" dirty="0">
                <a:hlinkClick r:id="rId16"/>
              </a:rPr>
              <a:t>https://er.indianrailways.gov.in/view_detail.jsp?lang=0&amp;id=0,4,268&amp;dcd=1661&amp;did=1575893674821A55EF609919750C816D6889E74905B28#:~:text=Real%2Dtime%20Train%20Information%20System%20(RTIS),Indian%20Space%20Research%20Organisation%20(ISRO)</a:t>
            </a:r>
            <a:r>
              <a:rPr lang="en-US" sz="10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"</a:t>
            </a:r>
            <a:r>
              <a:rPr lang="en-US" sz="1400" b="1" dirty="0"/>
              <a:t>Data-driven train delay prediction incorporating dispatching commands: An XGBoost-metaheuristic framework.</a:t>
            </a:r>
            <a:r>
              <a:rPr lang="en-US" sz="1400" dirty="0"/>
              <a:t>" Gao et al. (2024) - IET Intelligent Transport Systems: </a:t>
            </a:r>
            <a:r>
              <a:rPr lang="en-US" sz="1000" dirty="0">
                <a:hlinkClick r:id="rId17"/>
              </a:rPr>
              <a:t>https://ietresearch.onlinelibrary.wiley.com/doi/10.1049/itr2.12461</a:t>
            </a:r>
            <a:r>
              <a:rPr lang="en-US" sz="10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"</a:t>
            </a:r>
            <a:r>
              <a:rPr lang="en-US" sz="1400" b="1" dirty="0"/>
              <a:t>Estimating Train Delays in a Large Rail Network Using a Zero-Shot Markov Model.</a:t>
            </a:r>
            <a:r>
              <a:rPr lang="en-US" sz="1400" dirty="0"/>
              <a:t>" Gaurav, R. &amp; Srivastava, B. (2018) - IEEE ITSC 2018 </a:t>
            </a:r>
            <a:r>
              <a:rPr lang="en-US" sz="1000" dirty="0">
                <a:hlinkClick r:id="rId18"/>
              </a:rPr>
              <a:t>https://arxiv.org/abs/1806.02825</a:t>
            </a:r>
            <a:r>
              <a:rPr lang="en-US" sz="1000" dirty="0"/>
              <a:t> </a:t>
            </a:r>
            <a:endParaRPr lang="en-US" sz="1400" dirty="0"/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D056A617-35FC-AE66-0281-9BD10D62EFD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01353"/>
            <a:ext cx="135509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SteamX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9328</TotalTime>
  <Words>1737</Words>
  <Application>Microsoft Office PowerPoint</Application>
  <PresentationFormat>Widescreen</PresentationFormat>
  <Paragraphs>308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ＭＳ Ｐゴシック</vt:lpstr>
      <vt:lpstr>Aptos</vt:lpstr>
      <vt:lpstr>Arial</vt:lpstr>
      <vt:lpstr>Calibri</vt:lpstr>
      <vt:lpstr>Cambria</vt:lpstr>
      <vt:lpstr>Garamond</vt:lpstr>
      <vt:lpstr>Georgia</vt:lpstr>
      <vt:lpstr>Segoe UI Symbol</vt:lpstr>
      <vt:lpstr>Times New Roman</vt:lpstr>
      <vt:lpstr>TradeGothic</vt:lpstr>
      <vt:lpstr>Office Theme</vt:lpstr>
      <vt:lpstr>SMART INDIA HACKATHON 2026</vt:lpstr>
      <vt:lpstr>IDEA TITLE</vt:lpstr>
      <vt:lpstr>TECHNICAL APPROACH</vt:lpstr>
      <vt:lpstr>PowerPoint Presentation</vt:lpstr>
      <vt:lpstr>IMPACT AND BENEFITS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Bhavya Biswas</cp:lastModifiedBy>
  <cp:revision>184</cp:revision>
  <dcterms:created xsi:type="dcterms:W3CDTF">2013-12-12T18:46:50Z</dcterms:created>
  <dcterms:modified xsi:type="dcterms:W3CDTF">2026-09-25T19:18:33Z</dcterms:modified>
  <cp:category/>
</cp:coreProperties>
</file>